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749039"/>
          </a:xfrm>
          <a:prstGeom prst="rect">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170432"/>
            <a:ext cx="9144000" cy="274320"/>
          </a:xfrm>
          <a:prstGeom prst="rect">
            <a:avLst/>
          </a:prstGeom>
          <a:noFill/>
        </p:spPr>
        <p:txBody>
          <a:bodyPr wrap="square" lIns="0" rIns="0" tIns="0" bIns="0" anchor="t">
            <a:spAutoFit/>
          </a:bodyPr>
          <a:lstStyle/>
          <a:p>
            <a:pPr algn="l">
              <a:lnSpc>
                <a:spcPct val="122000"/>
              </a:lnSpc>
            </a:pPr>
            <a:r>
              <a:rPr sz="1250" b="1" i="0">
                <a:solidFill>
                  <a:srgbClr val="00A896"/>
                </a:solidFill>
                <a:latin typeface="Calibri"/>
              </a:rPr>
              <a:t>NETWORK TEST INFRASTRUCTURE</a:t>
            </a:r>
          </a:p>
        </p:txBody>
      </p:sp>
      <p:sp>
        <p:nvSpPr>
          <p:cNvPr id="5" name="TextBox 4"/>
          <p:cNvSpPr txBox="1"/>
          <p:nvPr/>
        </p:nvSpPr>
        <p:spPr>
          <a:xfrm>
            <a:off x="777240" y="1572768"/>
            <a:ext cx="10424160" cy="960120"/>
          </a:xfrm>
          <a:prstGeom prst="rect">
            <a:avLst/>
          </a:prstGeom>
          <a:noFill/>
        </p:spPr>
        <p:txBody>
          <a:bodyPr wrap="square" lIns="0" rIns="0" tIns="0" bIns="0" anchor="t">
            <a:spAutoFit/>
          </a:bodyPr>
          <a:lstStyle/>
          <a:p>
            <a:pPr algn="l">
              <a:lnSpc>
                <a:spcPct val="122000"/>
              </a:lnSpc>
            </a:pPr>
            <a:r>
              <a:rPr sz="5400" b="1" i="0">
                <a:solidFill>
                  <a:srgbClr val="FFFFFF"/>
                </a:solidFill>
                <a:latin typeface="Cambria"/>
              </a:rPr>
              <a:t>The DMVPN Lab Testbed</a:t>
            </a:r>
          </a:p>
        </p:txBody>
      </p:sp>
      <p:sp>
        <p:nvSpPr>
          <p:cNvPr id="6" name="TextBox 5"/>
          <p:cNvSpPr txBox="1"/>
          <p:nvPr/>
        </p:nvSpPr>
        <p:spPr>
          <a:xfrm>
            <a:off x="777240" y="2670048"/>
            <a:ext cx="9692640" cy="658368"/>
          </a:xfrm>
          <a:prstGeom prst="rect">
            <a:avLst/>
          </a:prstGeom>
          <a:noFill/>
        </p:spPr>
        <p:txBody>
          <a:bodyPr wrap="square" lIns="0" rIns="0" tIns="0" bIns="0" anchor="t">
            <a:spAutoFit/>
          </a:bodyPr>
          <a:lstStyle/>
          <a:p>
            <a:pPr algn="l">
              <a:lnSpc>
                <a:spcPct val="138000"/>
              </a:lnSpc>
            </a:pPr>
            <a:r>
              <a:rPr sz="1550" b="0" i="0">
                <a:solidFill>
                  <a:srgbClr val="B9C7CE"/>
                </a:solidFill>
                <a:latin typeface="Calibri"/>
              </a:rPr>
              <a:t>A three-router Cisco DMVPN network, its hosts and its management server, running as virtual machines on a single Linux box — rebuilt from nothing and re-verified on demand.</a:t>
            </a:r>
          </a:p>
        </p:txBody>
      </p:sp>
      <p:sp>
        <p:nvSpPr>
          <p:cNvPr id="7" name="Oval 6"/>
          <p:cNvSpPr/>
          <p:nvPr/>
        </p:nvSpPr>
        <p:spPr>
          <a:xfrm>
            <a:off x="777240" y="4041648"/>
            <a:ext cx="274320" cy="27432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008" y="4023360"/>
            <a:ext cx="9692640" cy="310896"/>
          </a:xfrm>
          <a:prstGeom prst="rect">
            <a:avLst/>
          </a:prstGeom>
          <a:noFill/>
        </p:spPr>
        <p:txBody>
          <a:bodyPr wrap="square" lIns="0" rIns="0" tIns="0" bIns="0" anchor="t">
            <a:spAutoFit/>
          </a:bodyPr>
          <a:lstStyle/>
          <a:p>
            <a:pPr algn="l">
              <a:lnSpc>
                <a:spcPct val="122000"/>
              </a:lnSpc>
            </a:pPr>
            <a:r>
              <a:rPr sz="1400" b="1" i="0">
                <a:solidFill>
                  <a:srgbClr val="FFFFFF"/>
                </a:solidFill>
                <a:latin typeface="Calibri"/>
              </a:rPr>
              <a:t>215 automated tests across 23 suites, in 24 minutes</a:t>
            </a:r>
          </a:p>
        </p:txBody>
      </p:sp>
      <p:cxnSp>
        <p:nvCxnSpPr>
          <p:cNvPr id="9" name="Connector 8"/>
          <p:cNvCxnSpPr/>
          <p:nvPr/>
        </p:nvCxnSpPr>
        <p:spPr>
          <a:xfrm>
            <a:off x="777240" y="4709160"/>
            <a:ext cx="10652760" cy="0"/>
          </a:xfrm>
          <a:prstGeom prst="line">
            <a:avLst/>
          </a:prstGeom>
          <a:ln w="12700">
            <a:solidFill>
              <a:srgbClr val="33454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4983480"/>
            <a:ext cx="2743200" cy="274320"/>
          </a:xfrm>
          <a:prstGeom prst="rect">
            <a:avLst/>
          </a:prstGeom>
          <a:noFill/>
        </p:spPr>
        <p:txBody>
          <a:bodyPr wrap="square" lIns="0" rIns="0" tIns="0" bIns="0" anchor="t">
            <a:spAutoFit/>
          </a:bodyPr>
          <a:lstStyle/>
          <a:p>
            <a:pPr algn="l">
              <a:lnSpc>
                <a:spcPct val="122000"/>
              </a:lnSpc>
            </a:pPr>
            <a:r>
              <a:rPr sz="1050" b="1" i="0">
                <a:solidFill>
                  <a:srgbClr val="00A896"/>
                </a:solidFill>
                <a:latin typeface="Calibri"/>
              </a:rPr>
              <a:t>PLATFORM</a:t>
            </a:r>
          </a:p>
        </p:txBody>
      </p:sp>
      <p:sp>
        <p:nvSpPr>
          <p:cNvPr id="11" name="TextBox 10"/>
          <p:cNvSpPr txBox="1"/>
          <p:nvPr/>
        </p:nvSpPr>
        <p:spPr>
          <a:xfrm>
            <a:off x="777240" y="5285232"/>
            <a:ext cx="2743200" cy="274320"/>
          </a:xfrm>
          <a:prstGeom prst="rect">
            <a:avLst/>
          </a:prstGeom>
          <a:noFill/>
        </p:spPr>
        <p:txBody>
          <a:bodyPr wrap="square" lIns="0" rIns="0" tIns="0" bIns="0" anchor="t">
            <a:spAutoFit/>
          </a:bodyPr>
          <a:lstStyle/>
          <a:p>
            <a:pPr algn="l">
              <a:lnSpc>
                <a:spcPct val="122000"/>
              </a:lnSpc>
            </a:pPr>
            <a:r>
              <a:rPr sz="1350" b="0" i="0">
                <a:solidFill>
                  <a:srgbClr val="FFFFFF"/>
                </a:solidFill>
                <a:latin typeface="Calibri"/>
              </a:rPr>
              <a:t>Cisco Catalyst 8000V</a:t>
            </a:r>
          </a:p>
        </p:txBody>
      </p:sp>
      <p:sp>
        <p:nvSpPr>
          <p:cNvPr id="12" name="TextBox 11"/>
          <p:cNvSpPr txBox="1"/>
          <p:nvPr/>
        </p:nvSpPr>
        <p:spPr>
          <a:xfrm>
            <a:off x="777240" y="5541264"/>
            <a:ext cx="3291840" cy="274320"/>
          </a:xfrm>
          <a:prstGeom prst="rect">
            <a:avLst/>
          </a:prstGeom>
          <a:noFill/>
        </p:spPr>
        <p:txBody>
          <a:bodyPr wrap="square" lIns="0" rIns="0" tIns="0" bIns="0" anchor="t">
            <a:spAutoFit/>
          </a:bodyPr>
          <a:lstStyle/>
          <a:p>
            <a:pPr algn="l">
              <a:lnSpc>
                <a:spcPct val="122000"/>
              </a:lnSpc>
            </a:pPr>
            <a:r>
              <a:rPr sz="1200" b="0" i="0">
                <a:solidFill>
                  <a:srgbClr val="62798A"/>
                </a:solidFill>
                <a:latin typeface="Calibri"/>
              </a:rPr>
              <a:t>IOS-XE 17.15.06</a:t>
            </a:r>
          </a:p>
        </p:txBody>
      </p:sp>
      <p:sp>
        <p:nvSpPr>
          <p:cNvPr id="13" name="TextBox 12"/>
          <p:cNvSpPr txBox="1"/>
          <p:nvPr/>
        </p:nvSpPr>
        <p:spPr>
          <a:xfrm>
            <a:off x="4160520" y="4983480"/>
            <a:ext cx="2743200" cy="274320"/>
          </a:xfrm>
          <a:prstGeom prst="rect">
            <a:avLst/>
          </a:prstGeom>
          <a:noFill/>
        </p:spPr>
        <p:txBody>
          <a:bodyPr wrap="square" lIns="0" rIns="0" tIns="0" bIns="0" anchor="t">
            <a:spAutoFit/>
          </a:bodyPr>
          <a:lstStyle/>
          <a:p>
            <a:pPr algn="l">
              <a:lnSpc>
                <a:spcPct val="122000"/>
              </a:lnSpc>
            </a:pPr>
            <a:r>
              <a:rPr sz="1050" b="1" i="0">
                <a:solidFill>
                  <a:srgbClr val="00A896"/>
                </a:solidFill>
                <a:latin typeface="Calibri"/>
              </a:rPr>
              <a:t>HYPERVISOR</a:t>
            </a:r>
          </a:p>
        </p:txBody>
      </p:sp>
      <p:sp>
        <p:nvSpPr>
          <p:cNvPr id="14" name="TextBox 13"/>
          <p:cNvSpPr txBox="1"/>
          <p:nvPr/>
        </p:nvSpPr>
        <p:spPr>
          <a:xfrm>
            <a:off x="4160520" y="5285232"/>
            <a:ext cx="2926080" cy="274320"/>
          </a:xfrm>
          <a:prstGeom prst="rect">
            <a:avLst/>
          </a:prstGeom>
          <a:noFill/>
        </p:spPr>
        <p:txBody>
          <a:bodyPr wrap="square" lIns="0" rIns="0" tIns="0" bIns="0" anchor="t">
            <a:spAutoFit/>
          </a:bodyPr>
          <a:lstStyle/>
          <a:p>
            <a:pPr algn="l">
              <a:lnSpc>
                <a:spcPct val="122000"/>
              </a:lnSpc>
            </a:pPr>
            <a:r>
              <a:rPr sz="1350" b="0" i="0">
                <a:solidFill>
                  <a:srgbClr val="FFFFFF"/>
                </a:solidFill>
                <a:latin typeface="Calibri"/>
              </a:rPr>
              <a:t>QEMU 10.2 / KVM</a:t>
            </a:r>
          </a:p>
        </p:txBody>
      </p:sp>
      <p:sp>
        <p:nvSpPr>
          <p:cNvPr id="15" name="TextBox 14"/>
          <p:cNvSpPr txBox="1"/>
          <p:nvPr/>
        </p:nvSpPr>
        <p:spPr>
          <a:xfrm>
            <a:off x="4160520" y="5541264"/>
            <a:ext cx="3291840" cy="274320"/>
          </a:xfrm>
          <a:prstGeom prst="rect">
            <a:avLst/>
          </a:prstGeom>
          <a:noFill/>
        </p:spPr>
        <p:txBody>
          <a:bodyPr wrap="square" lIns="0" rIns="0" tIns="0" bIns="0" anchor="t">
            <a:spAutoFit/>
          </a:bodyPr>
          <a:lstStyle/>
          <a:p>
            <a:pPr algn="l">
              <a:lnSpc>
                <a:spcPct val="122000"/>
              </a:lnSpc>
            </a:pPr>
            <a:r>
              <a:rPr sz="1200" b="0" i="0">
                <a:solidFill>
                  <a:srgbClr val="62798A"/>
                </a:solidFill>
                <a:latin typeface="Calibri"/>
              </a:rPr>
              <a:t>7 VMs, one host</a:t>
            </a:r>
          </a:p>
        </p:txBody>
      </p:sp>
      <p:sp>
        <p:nvSpPr>
          <p:cNvPr id="16" name="TextBox 15"/>
          <p:cNvSpPr txBox="1"/>
          <p:nvPr/>
        </p:nvSpPr>
        <p:spPr>
          <a:xfrm>
            <a:off x="7543800" y="4983480"/>
            <a:ext cx="2743200" cy="274320"/>
          </a:xfrm>
          <a:prstGeom prst="rect">
            <a:avLst/>
          </a:prstGeom>
          <a:noFill/>
        </p:spPr>
        <p:txBody>
          <a:bodyPr wrap="square" lIns="0" rIns="0" tIns="0" bIns="0" anchor="t">
            <a:spAutoFit/>
          </a:bodyPr>
          <a:lstStyle/>
          <a:p>
            <a:pPr algn="l">
              <a:lnSpc>
                <a:spcPct val="122000"/>
              </a:lnSpc>
            </a:pPr>
            <a:r>
              <a:rPr sz="1050" b="1" i="0">
                <a:solidFill>
                  <a:srgbClr val="00A896"/>
                </a:solidFill>
                <a:latin typeface="Calibri"/>
              </a:rPr>
              <a:t>HARNESS</a:t>
            </a:r>
          </a:p>
        </p:txBody>
      </p:sp>
      <p:sp>
        <p:nvSpPr>
          <p:cNvPr id="17" name="TextBox 16"/>
          <p:cNvSpPr txBox="1"/>
          <p:nvPr/>
        </p:nvSpPr>
        <p:spPr>
          <a:xfrm>
            <a:off x="7543800" y="5285232"/>
            <a:ext cx="3108960" cy="274320"/>
          </a:xfrm>
          <a:prstGeom prst="rect">
            <a:avLst/>
          </a:prstGeom>
          <a:noFill/>
        </p:spPr>
        <p:txBody>
          <a:bodyPr wrap="square" lIns="0" rIns="0" tIns="0" bIns="0" anchor="t">
            <a:spAutoFit/>
          </a:bodyPr>
          <a:lstStyle/>
          <a:p>
            <a:pPr algn="l">
              <a:lnSpc>
                <a:spcPct val="122000"/>
              </a:lnSpc>
            </a:pPr>
            <a:r>
              <a:rPr sz="1350" b="0" i="0">
                <a:solidFill>
                  <a:srgbClr val="FFFFFF"/>
                </a:solidFill>
                <a:latin typeface="Calibri"/>
              </a:rPr>
              <a:t>Robot Framework 7.3</a:t>
            </a:r>
          </a:p>
        </p:txBody>
      </p:sp>
      <p:sp>
        <p:nvSpPr>
          <p:cNvPr id="18" name="TextBox 17"/>
          <p:cNvSpPr txBox="1"/>
          <p:nvPr/>
        </p:nvSpPr>
        <p:spPr>
          <a:xfrm>
            <a:off x="7543800" y="5541264"/>
            <a:ext cx="3291840" cy="274320"/>
          </a:xfrm>
          <a:prstGeom prst="rect">
            <a:avLst/>
          </a:prstGeom>
          <a:noFill/>
        </p:spPr>
        <p:txBody>
          <a:bodyPr wrap="square" lIns="0" rIns="0" tIns="0" bIns="0" anchor="t">
            <a:spAutoFit/>
          </a:bodyPr>
          <a:lstStyle/>
          <a:p>
            <a:pPr algn="l">
              <a:lnSpc>
                <a:spcPct val="122000"/>
              </a:lnSpc>
            </a:pPr>
            <a:r>
              <a:rPr sz="1200" b="0" i="0">
                <a:solidFill>
                  <a:srgbClr val="62798A"/>
                </a:solidFill>
                <a:latin typeface="Calibri"/>
              </a:rPr>
              <a:t>Python 3.14 · pyATS · Genie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What the lab is, in one slide</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A production-shaped network that can be destroyed and rebuilt without touching production</a:t>
            </a:r>
          </a:p>
        </p:txBody>
      </p:sp>
      <p:sp>
        <p:nvSpPr>
          <p:cNvPr id="5" name="Rounded Rectangle 4"/>
          <p:cNvSpPr/>
          <p:nvPr/>
        </p:nvSpPr>
        <p:spPr>
          <a:xfrm>
            <a:off x="685800" y="1572768"/>
            <a:ext cx="10817352" cy="1298448"/>
          </a:xfrm>
          <a:prstGeom prst="roundRect">
            <a:avLst>
              <a:gd name="adj" fmla="val 6338"/>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00784"/>
            <a:ext cx="2194560" cy="713232"/>
          </a:xfrm>
          <a:prstGeom prst="rect">
            <a:avLst/>
          </a:prstGeom>
          <a:noFill/>
        </p:spPr>
        <p:txBody>
          <a:bodyPr wrap="square" lIns="0" rIns="0" tIns="0" bIns="0" anchor="t">
            <a:spAutoFit/>
          </a:bodyPr>
          <a:lstStyle/>
          <a:p>
            <a:pPr algn="l">
              <a:lnSpc>
                <a:spcPct val="122000"/>
              </a:lnSpc>
            </a:pPr>
            <a:r>
              <a:rPr sz="4400" b="1" i="0">
                <a:solidFill>
                  <a:srgbClr val="00A896"/>
                </a:solidFill>
                <a:latin typeface="Cambria"/>
              </a:rPr>
              <a:t>7</a:t>
            </a:r>
          </a:p>
        </p:txBody>
      </p:sp>
      <p:sp>
        <p:nvSpPr>
          <p:cNvPr id="7" name="TextBox 6"/>
          <p:cNvSpPr txBox="1"/>
          <p:nvPr/>
        </p:nvSpPr>
        <p:spPr>
          <a:xfrm>
            <a:off x="1051560" y="2432304"/>
            <a:ext cx="2194560" cy="274320"/>
          </a:xfrm>
          <a:prstGeom prst="rect">
            <a:avLst/>
          </a:prstGeom>
          <a:noFill/>
        </p:spPr>
        <p:txBody>
          <a:bodyPr wrap="square" lIns="0" rIns="0" tIns="0" bIns="0" anchor="t">
            <a:spAutoFit/>
          </a:bodyPr>
          <a:lstStyle/>
          <a:p>
            <a:pPr algn="l">
              <a:lnSpc>
                <a:spcPct val="122000"/>
              </a:lnSpc>
            </a:pPr>
            <a:r>
              <a:rPr sz="1150" b="0" i="0">
                <a:solidFill>
                  <a:srgbClr val="62798A"/>
                </a:solidFill>
                <a:latin typeface="Calibri"/>
              </a:rPr>
              <a:t>virtual machines</a:t>
            </a:r>
          </a:p>
        </p:txBody>
      </p:sp>
      <p:sp>
        <p:nvSpPr>
          <p:cNvPr id="8" name="TextBox 7"/>
          <p:cNvSpPr txBox="1"/>
          <p:nvPr/>
        </p:nvSpPr>
        <p:spPr>
          <a:xfrm>
            <a:off x="3703320" y="1700784"/>
            <a:ext cx="2194560" cy="713232"/>
          </a:xfrm>
          <a:prstGeom prst="rect">
            <a:avLst/>
          </a:prstGeom>
          <a:noFill/>
        </p:spPr>
        <p:txBody>
          <a:bodyPr wrap="square" lIns="0" rIns="0" tIns="0" bIns="0" anchor="t">
            <a:spAutoFit/>
          </a:bodyPr>
          <a:lstStyle/>
          <a:p>
            <a:pPr algn="l">
              <a:lnSpc>
                <a:spcPct val="122000"/>
              </a:lnSpc>
            </a:pPr>
            <a:r>
              <a:rPr sz="4400" b="1" i="0">
                <a:solidFill>
                  <a:srgbClr val="00A896"/>
                </a:solidFill>
                <a:latin typeface="Cambria"/>
              </a:rPr>
              <a:t>23</a:t>
            </a:r>
          </a:p>
        </p:txBody>
      </p:sp>
      <p:sp>
        <p:nvSpPr>
          <p:cNvPr id="9" name="TextBox 8"/>
          <p:cNvSpPr txBox="1"/>
          <p:nvPr/>
        </p:nvSpPr>
        <p:spPr>
          <a:xfrm>
            <a:off x="3703320" y="2432304"/>
            <a:ext cx="2194560" cy="274320"/>
          </a:xfrm>
          <a:prstGeom prst="rect">
            <a:avLst/>
          </a:prstGeom>
          <a:noFill/>
        </p:spPr>
        <p:txBody>
          <a:bodyPr wrap="square" lIns="0" rIns="0" tIns="0" bIns="0" anchor="t">
            <a:spAutoFit/>
          </a:bodyPr>
          <a:lstStyle/>
          <a:p>
            <a:pPr algn="l">
              <a:lnSpc>
                <a:spcPct val="122000"/>
              </a:lnSpc>
            </a:pPr>
            <a:r>
              <a:rPr sz="1150" b="0" i="0">
                <a:solidFill>
                  <a:srgbClr val="62798A"/>
                </a:solidFill>
                <a:latin typeface="Calibri"/>
              </a:rPr>
              <a:t>test suites</a:t>
            </a:r>
          </a:p>
        </p:txBody>
      </p:sp>
      <p:sp>
        <p:nvSpPr>
          <p:cNvPr id="10" name="TextBox 9"/>
          <p:cNvSpPr txBox="1"/>
          <p:nvPr/>
        </p:nvSpPr>
        <p:spPr>
          <a:xfrm>
            <a:off x="6355080" y="1700784"/>
            <a:ext cx="2194560" cy="713232"/>
          </a:xfrm>
          <a:prstGeom prst="rect">
            <a:avLst/>
          </a:prstGeom>
          <a:noFill/>
        </p:spPr>
        <p:txBody>
          <a:bodyPr wrap="square" lIns="0" rIns="0" tIns="0" bIns="0" anchor="t">
            <a:spAutoFit/>
          </a:bodyPr>
          <a:lstStyle/>
          <a:p>
            <a:pPr algn="l">
              <a:lnSpc>
                <a:spcPct val="122000"/>
              </a:lnSpc>
            </a:pPr>
            <a:r>
              <a:rPr sz="4400" b="1" i="0">
                <a:solidFill>
                  <a:srgbClr val="00A896"/>
                </a:solidFill>
                <a:latin typeface="Cambria"/>
              </a:rPr>
              <a:t>215</a:t>
            </a:r>
          </a:p>
        </p:txBody>
      </p:sp>
      <p:sp>
        <p:nvSpPr>
          <p:cNvPr id="11" name="TextBox 10"/>
          <p:cNvSpPr txBox="1"/>
          <p:nvPr/>
        </p:nvSpPr>
        <p:spPr>
          <a:xfrm>
            <a:off x="6355080" y="2432304"/>
            <a:ext cx="2194560" cy="274320"/>
          </a:xfrm>
          <a:prstGeom prst="rect">
            <a:avLst/>
          </a:prstGeom>
          <a:noFill/>
        </p:spPr>
        <p:txBody>
          <a:bodyPr wrap="square" lIns="0" rIns="0" tIns="0" bIns="0" anchor="t">
            <a:spAutoFit/>
          </a:bodyPr>
          <a:lstStyle/>
          <a:p>
            <a:pPr algn="l">
              <a:lnSpc>
                <a:spcPct val="122000"/>
              </a:lnSpc>
            </a:pPr>
            <a:r>
              <a:rPr sz="1150" b="0" i="0">
                <a:solidFill>
                  <a:srgbClr val="62798A"/>
                </a:solidFill>
                <a:latin typeface="Calibri"/>
              </a:rPr>
              <a:t>automated tests</a:t>
            </a:r>
          </a:p>
        </p:txBody>
      </p:sp>
      <p:sp>
        <p:nvSpPr>
          <p:cNvPr id="12" name="TextBox 11"/>
          <p:cNvSpPr txBox="1"/>
          <p:nvPr/>
        </p:nvSpPr>
        <p:spPr>
          <a:xfrm>
            <a:off x="9006840" y="1700784"/>
            <a:ext cx="2377440" cy="713232"/>
          </a:xfrm>
          <a:prstGeom prst="rect">
            <a:avLst/>
          </a:prstGeom>
          <a:noFill/>
        </p:spPr>
        <p:txBody>
          <a:bodyPr wrap="square" lIns="0" rIns="0" tIns="0" bIns="0" anchor="t">
            <a:spAutoFit/>
          </a:bodyPr>
          <a:lstStyle/>
          <a:p>
            <a:pPr algn="l">
              <a:lnSpc>
                <a:spcPct val="122000"/>
              </a:lnSpc>
            </a:pPr>
            <a:r>
              <a:rPr sz="4400" b="1" i="0">
                <a:solidFill>
                  <a:srgbClr val="017F73"/>
                </a:solidFill>
                <a:latin typeface="Cambria"/>
              </a:rPr>
              <a:t>24 min</a:t>
            </a:r>
          </a:p>
        </p:txBody>
      </p:sp>
      <p:sp>
        <p:nvSpPr>
          <p:cNvPr id="13" name="TextBox 12"/>
          <p:cNvSpPr txBox="1"/>
          <p:nvPr/>
        </p:nvSpPr>
        <p:spPr>
          <a:xfrm>
            <a:off x="9006840" y="2432304"/>
            <a:ext cx="2377440" cy="274320"/>
          </a:xfrm>
          <a:prstGeom prst="rect">
            <a:avLst/>
          </a:prstGeom>
          <a:noFill/>
        </p:spPr>
        <p:txBody>
          <a:bodyPr wrap="square" lIns="0" rIns="0" tIns="0" bIns="0" anchor="t">
            <a:spAutoFit/>
          </a:bodyPr>
          <a:lstStyle/>
          <a:p>
            <a:pPr algn="l">
              <a:lnSpc>
                <a:spcPct val="122000"/>
              </a:lnSpc>
            </a:pPr>
            <a:r>
              <a:rPr sz="1150" b="0" i="0">
                <a:solidFill>
                  <a:srgbClr val="62798A"/>
                </a:solidFill>
                <a:latin typeface="Calibri"/>
              </a:rPr>
              <a:t>full regression</a:t>
            </a:r>
          </a:p>
        </p:txBody>
      </p:sp>
      <p:sp>
        <p:nvSpPr>
          <p:cNvPr id="14" name="Rounded Rectangle 13"/>
          <p:cNvSpPr/>
          <p:nvPr/>
        </p:nvSpPr>
        <p:spPr>
          <a:xfrm>
            <a:off x="685800" y="3127248"/>
            <a:ext cx="3456432" cy="1773936"/>
          </a:xfrm>
          <a:prstGeom prst="roundRect">
            <a:avLst>
              <a:gd name="adj" fmla="val 4639"/>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 y="3401568"/>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1288" y="3310128"/>
            <a:ext cx="2679191" cy="292608"/>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Real software, not a simulator</a:t>
            </a:r>
          </a:p>
        </p:txBody>
      </p:sp>
      <p:sp>
        <p:nvSpPr>
          <p:cNvPr id="17" name="TextBox 16"/>
          <p:cNvSpPr txBox="1"/>
          <p:nvPr/>
        </p:nvSpPr>
        <p:spPr>
          <a:xfrm>
            <a:off x="960120" y="3694176"/>
            <a:ext cx="2907791" cy="1042415"/>
          </a:xfrm>
          <a:prstGeom prst="rect">
            <a:avLst/>
          </a:prstGeom>
          <a:noFill/>
        </p:spPr>
        <p:txBody>
          <a:bodyPr wrap="square" lIns="0" rIns="0" tIns="0" bIns="0" anchor="t">
            <a:spAutoFit/>
          </a:bodyPr>
          <a:lstStyle/>
          <a:p>
            <a:pPr algn="l">
              <a:lnSpc>
                <a:spcPct val="132000"/>
              </a:lnSpc>
            </a:pPr>
            <a:r>
              <a:rPr sz="1200" b="0" i="0">
                <a:solidFill>
                  <a:srgbClr val="62798A"/>
                </a:solidFill>
                <a:latin typeface="Calibri"/>
              </a:rPr>
              <a:t>The routers run the same IOS-XE image as the physical fleet. Behaviour that depends on the operating system — timers, refusals, silent failures — shows up here.</a:t>
            </a:r>
          </a:p>
        </p:txBody>
      </p:sp>
      <p:sp>
        <p:nvSpPr>
          <p:cNvPr id="18" name="Rounded Rectangle 17"/>
          <p:cNvSpPr/>
          <p:nvPr/>
        </p:nvSpPr>
        <p:spPr>
          <a:xfrm>
            <a:off x="4370832" y="3127248"/>
            <a:ext cx="3456432" cy="1773936"/>
          </a:xfrm>
          <a:prstGeom prst="roundRect">
            <a:avLst>
              <a:gd name="adj" fmla="val 4639"/>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645152" y="3401568"/>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3310128"/>
            <a:ext cx="2679191" cy="292608"/>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Rebuilt from source config</a:t>
            </a:r>
          </a:p>
        </p:txBody>
      </p:sp>
      <p:sp>
        <p:nvSpPr>
          <p:cNvPr id="21" name="TextBox 20"/>
          <p:cNvSpPr txBox="1"/>
          <p:nvPr/>
        </p:nvSpPr>
        <p:spPr>
          <a:xfrm>
            <a:off x="4645152" y="3694176"/>
            <a:ext cx="2907791" cy="1042415"/>
          </a:xfrm>
          <a:prstGeom prst="rect">
            <a:avLst/>
          </a:prstGeom>
          <a:noFill/>
        </p:spPr>
        <p:txBody>
          <a:bodyPr wrap="square" lIns="0" rIns="0" tIns="0" bIns="0" anchor="t">
            <a:spAutoFit/>
          </a:bodyPr>
          <a:lstStyle/>
          <a:p>
            <a:pPr algn="l">
              <a:lnSpc>
                <a:spcPct val="132000"/>
              </a:lnSpc>
            </a:pPr>
            <a:r>
              <a:rPr sz="1200" b="0" i="0">
                <a:solidFill>
                  <a:srgbClr val="62798A"/>
                </a:solidFill>
                <a:latin typeface="Calibri"/>
              </a:rPr>
              <a:t>Ten provisioning phases take a factory-fresh image to a fully configured network. Nothing is hand-typed, so nothing is unrepeatable.</a:t>
            </a:r>
          </a:p>
        </p:txBody>
      </p:sp>
      <p:sp>
        <p:nvSpPr>
          <p:cNvPr id="22" name="Rounded Rectangle 21"/>
          <p:cNvSpPr/>
          <p:nvPr/>
        </p:nvSpPr>
        <p:spPr>
          <a:xfrm>
            <a:off x="8055864" y="3127248"/>
            <a:ext cx="3447288" cy="1773936"/>
          </a:xfrm>
          <a:prstGeom prst="roundRect">
            <a:avLst>
              <a:gd name="adj" fmla="val 4639"/>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30184" y="3401568"/>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31352" y="3310128"/>
            <a:ext cx="2670048" cy="292608"/>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Evidence, not assertions</a:t>
            </a:r>
          </a:p>
        </p:txBody>
      </p:sp>
      <p:sp>
        <p:nvSpPr>
          <p:cNvPr id="25" name="TextBox 24"/>
          <p:cNvSpPr txBox="1"/>
          <p:nvPr/>
        </p:nvSpPr>
        <p:spPr>
          <a:xfrm>
            <a:off x="8330184" y="3694176"/>
            <a:ext cx="2898648" cy="1042415"/>
          </a:xfrm>
          <a:prstGeom prst="rect">
            <a:avLst/>
          </a:prstGeom>
          <a:noFill/>
        </p:spPr>
        <p:txBody>
          <a:bodyPr wrap="square" lIns="0" rIns="0" tIns="0" bIns="0" anchor="t">
            <a:spAutoFit/>
          </a:bodyPr>
          <a:lstStyle/>
          <a:p>
            <a:pPr algn="l">
              <a:lnSpc>
                <a:spcPct val="132000"/>
              </a:lnSpc>
            </a:pPr>
            <a:r>
              <a:rPr sz="1200" b="0" i="0">
                <a:solidFill>
                  <a:srgbClr val="62798A"/>
                </a:solidFill>
                <a:latin typeface="Calibri"/>
              </a:rPr>
              <a:t>Every run archives device state, logs and a numbered PDF report. A claim that something passed is backed by the command output that proved it.</a:t>
            </a:r>
          </a:p>
        </p:txBody>
      </p:sp>
      <p:sp>
        <p:nvSpPr>
          <p:cNvPr id="26" name="Rounded Rectangle 25"/>
          <p:cNvSpPr/>
          <p:nvPr/>
        </p:nvSpPr>
        <p:spPr>
          <a:xfrm>
            <a:off x="685800" y="5102352"/>
            <a:ext cx="10817352" cy="1188720"/>
          </a:xfrm>
          <a:prstGeom prst="roundRect">
            <a:avLst>
              <a:gd name="adj" fmla="val 6923"/>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60120" y="5358384"/>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61872" y="5266944"/>
            <a:ext cx="10058400"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Why it matters commercially</a:t>
            </a:r>
          </a:p>
        </p:txBody>
      </p:sp>
      <p:sp>
        <p:nvSpPr>
          <p:cNvPr id="29" name="TextBox 28"/>
          <p:cNvSpPr txBox="1"/>
          <p:nvPr/>
        </p:nvSpPr>
        <p:spPr>
          <a:xfrm>
            <a:off x="1261872" y="5577840"/>
            <a:ext cx="9966960" cy="603504"/>
          </a:xfrm>
          <a:prstGeom prst="rect">
            <a:avLst/>
          </a:prstGeom>
          <a:noFill/>
        </p:spPr>
        <p:txBody>
          <a:bodyPr wrap="square" lIns="0" rIns="0" tIns="0" bIns="0" anchor="t">
            <a:spAutoFit/>
          </a:bodyPr>
          <a:lstStyle/>
          <a:p>
            <a:pPr algn="l">
              <a:lnSpc>
                <a:spcPct val="132000"/>
              </a:lnSpc>
            </a:pPr>
            <a:r>
              <a:rPr sz="1250" b="0" i="0">
                <a:solidFill>
                  <a:srgbClr val="62798A"/>
                </a:solidFill>
                <a:latin typeface="Calibri"/>
              </a:rPr>
              <a:t>Changes to encryption, routing policy, NAT or authentication can be proven safe before they reach a customer site — and a failure found here costs a 24-minute re-run rather than a change window and a truck roll.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One Linux host carries the whole lab</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No dedicated hardware, no cloud spend, no lab booking</a:t>
            </a:r>
          </a:p>
        </p:txBody>
      </p:sp>
      <p:sp>
        <p:nvSpPr>
          <p:cNvPr id="5" name="Rounded Rectangle 4"/>
          <p:cNvSpPr/>
          <p:nvPr/>
        </p:nvSpPr>
        <p:spPr>
          <a:xfrm>
            <a:off x="685800" y="1627632"/>
            <a:ext cx="3886200" cy="4160520"/>
          </a:xfrm>
          <a:prstGeom prst="roundRect">
            <a:avLst>
              <a:gd name="adj" fmla="val 2117"/>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83664"/>
            <a:ext cx="3291840" cy="274320"/>
          </a:xfrm>
          <a:prstGeom prst="rect">
            <a:avLst/>
          </a:prstGeom>
          <a:noFill/>
        </p:spPr>
        <p:txBody>
          <a:bodyPr wrap="square" lIns="0" rIns="0" tIns="0" bIns="0" anchor="t">
            <a:spAutoFit/>
          </a:bodyPr>
          <a:lstStyle/>
          <a:p>
            <a:pPr algn="l">
              <a:lnSpc>
                <a:spcPct val="122000"/>
              </a:lnSpc>
            </a:pPr>
            <a:r>
              <a:rPr sz="1100" b="1" i="0">
                <a:solidFill>
                  <a:srgbClr val="00A896"/>
                </a:solidFill>
                <a:latin typeface="Calibri"/>
              </a:rPr>
              <a:t>THE HOST</a:t>
            </a:r>
          </a:p>
        </p:txBody>
      </p:sp>
      <p:sp>
        <p:nvSpPr>
          <p:cNvPr id="7" name="TextBox 6"/>
          <p:cNvSpPr txBox="1"/>
          <p:nvPr/>
        </p:nvSpPr>
        <p:spPr>
          <a:xfrm>
            <a:off x="1005840" y="2304288"/>
            <a:ext cx="3291840" cy="237744"/>
          </a:xfrm>
          <a:prstGeom prst="rect">
            <a:avLst/>
          </a:prstGeom>
          <a:noFill/>
        </p:spPr>
        <p:txBody>
          <a:bodyPr wrap="square" lIns="0" rIns="0" tIns="0" bIns="0" anchor="t">
            <a:spAutoFit/>
          </a:bodyPr>
          <a:lstStyle/>
          <a:p>
            <a:pPr algn="l">
              <a:lnSpc>
                <a:spcPct val="122000"/>
              </a:lnSpc>
            </a:pPr>
            <a:r>
              <a:rPr sz="950" b="1" i="0">
                <a:solidFill>
                  <a:srgbClr val="62798A"/>
                </a:solidFill>
                <a:latin typeface="Calibri"/>
              </a:rPr>
              <a:t>CPU</a:t>
            </a:r>
          </a:p>
        </p:txBody>
      </p:sp>
      <p:sp>
        <p:nvSpPr>
          <p:cNvPr id="8" name="TextBox 7"/>
          <p:cNvSpPr txBox="1"/>
          <p:nvPr/>
        </p:nvSpPr>
        <p:spPr>
          <a:xfrm>
            <a:off x="1005840" y="2542032"/>
            <a:ext cx="3291840" cy="274320"/>
          </a:xfrm>
          <a:prstGeom prst="rect">
            <a:avLst/>
          </a:prstGeom>
          <a:noFill/>
        </p:spPr>
        <p:txBody>
          <a:bodyPr wrap="square" lIns="0" rIns="0" tIns="0" bIns="0" anchor="t">
            <a:spAutoFit/>
          </a:bodyPr>
          <a:lstStyle/>
          <a:p>
            <a:pPr algn="l">
              <a:lnSpc>
                <a:spcPct val="122000"/>
              </a:lnSpc>
            </a:pPr>
            <a:r>
              <a:rPr sz="1300" b="0" i="0">
                <a:solidFill>
                  <a:srgbClr val="FFFFFF"/>
                </a:solidFill>
                <a:latin typeface="Calibri"/>
              </a:rPr>
              <a:t>12 cores, KVM accelerated</a:t>
            </a:r>
          </a:p>
        </p:txBody>
      </p:sp>
      <p:sp>
        <p:nvSpPr>
          <p:cNvPr id="9" name="TextBox 8"/>
          <p:cNvSpPr txBox="1"/>
          <p:nvPr/>
        </p:nvSpPr>
        <p:spPr>
          <a:xfrm>
            <a:off x="1005840" y="3035808"/>
            <a:ext cx="3291840" cy="237744"/>
          </a:xfrm>
          <a:prstGeom prst="rect">
            <a:avLst/>
          </a:prstGeom>
          <a:noFill/>
        </p:spPr>
        <p:txBody>
          <a:bodyPr wrap="square" lIns="0" rIns="0" tIns="0" bIns="0" anchor="t">
            <a:spAutoFit/>
          </a:bodyPr>
          <a:lstStyle/>
          <a:p>
            <a:pPr algn="l">
              <a:lnSpc>
                <a:spcPct val="122000"/>
              </a:lnSpc>
            </a:pPr>
            <a:r>
              <a:rPr sz="950" b="1" i="0">
                <a:solidFill>
                  <a:srgbClr val="62798A"/>
                </a:solidFill>
                <a:latin typeface="Calibri"/>
              </a:rPr>
              <a:t>MEMORY</a:t>
            </a:r>
          </a:p>
        </p:txBody>
      </p:sp>
      <p:sp>
        <p:nvSpPr>
          <p:cNvPr id="10" name="TextBox 9"/>
          <p:cNvSpPr txBox="1"/>
          <p:nvPr/>
        </p:nvSpPr>
        <p:spPr>
          <a:xfrm>
            <a:off x="1005840" y="3273552"/>
            <a:ext cx="3291840" cy="274320"/>
          </a:xfrm>
          <a:prstGeom prst="rect">
            <a:avLst/>
          </a:prstGeom>
          <a:noFill/>
        </p:spPr>
        <p:txBody>
          <a:bodyPr wrap="square" lIns="0" rIns="0" tIns="0" bIns="0" anchor="t">
            <a:spAutoFit/>
          </a:bodyPr>
          <a:lstStyle/>
          <a:p>
            <a:pPr algn="l">
              <a:lnSpc>
                <a:spcPct val="122000"/>
              </a:lnSpc>
            </a:pPr>
            <a:r>
              <a:rPr sz="1300" b="0" i="0">
                <a:solidFill>
                  <a:srgbClr val="FFFFFF"/>
                </a:solidFill>
                <a:latin typeface="Calibri"/>
              </a:rPr>
              <a:t>57 GB total</a:t>
            </a:r>
          </a:p>
        </p:txBody>
      </p:sp>
      <p:sp>
        <p:nvSpPr>
          <p:cNvPr id="11" name="TextBox 10"/>
          <p:cNvSpPr txBox="1"/>
          <p:nvPr/>
        </p:nvSpPr>
        <p:spPr>
          <a:xfrm>
            <a:off x="1005840" y="3767328"/>
            <a:ext cx="3291840" cy="237744"/>
          </a:xfrm>
          <a:prstGeom prst="rect">
            <a:avLst/>
          </a:prstGeom>
          <a:noFill/>
        </p:spPr>
        <p:txBody>
          <a:bodyPr wrap="square" lIns="0" rIns="0" tIns="0" bIns="0" anchor="t">
            <a:spAutoFit/>
          </a:bodyPr>
          <a:lstStyle/>
          <a:p>
            <a:pPr algn="l">
              <a:lnSpc>
                <a:spcPct val="122000"/>
              </a:lnSpc>
            </a:pPr>
            <a:r>
              <a:rPr sz="950" b="1" i="0">
                <a:solidFill>
                  <a:srgbClr val="62798A"/>
                </a:solidFill>
                <a:latin typeface="Calibri"/>
              </a:rPr>
              <a:t>STORAGE</a:t>
            </a:r>
          </a:p>
        </p:txBody>
      </p:sp>
      <p:sp>
        <p:nvSpPr>
          <p:cNvPr id="12" name="TextBox 11"/>
          <p:cNvSpPr txBox="1"/>
          <p:nvPr/>
        </p:nvSpPr>
        <p:spPr>
          <a:xfrm>
            <a:off x="1005840" y="4005072"/>
            <a:ext cx="3291840" cy="274320"/>
          </a:xfrm>
          <a:prstGeom prst="rect">
            <a:avLst/>
          </a:prstGeom>
          <a:noFill/>
        </p:spPr>
        <p:txBody>
          <a:bodyPr wrap="square" lIns="0" rIns="0" tIns="0" bIns="0" anchor="t">
            <a:spAutoFit/>
          </a:bodyPr>
          <a:lstStyle/>
          <a:p>
            <a:pPr algn="l">
              <a:lnSpc>
                <a:spcPct val="122000"/>
              </a:lnSpc>
            </a:pPr>
            <a:r>
              <a:rPr sz="1300" b="0" i="0">
                <a:solidFill>
                  <a:srgbClr val="FFFFFF"/>
                </a:solidFill>
                <a:latin typeface="Calibri"/>
              </a:rPr>
              <a:t>732 GB (36 GB used)</a:t>
            </a:r>
          </a:p>
        </p:txBody>
      </p:sp>
      <p:sp>
        <p:nvSpPr>
          <p:cNvPr id="13" name="TextBox 12"/>
          <p:cNvSpPr txBox="1"/>
          <p:nvPr/>
        </p:nvSpPr>
        <p:spPr>
          <a:xfrm>
            <a:off x="1005840" y="4498848"/>
            <a:ext cx="3291840" cy="237744"/>
          </a:xfrm>
          <a:prstGeom prst="rect">
            <a:avLst/>
          </a:prstGeom>
          <a:noFill/>
        </p:spPr>
        <p:txBody>
          <a:bodyPr wrap="square" lIns="0" rIns="0" tIns="0" bIns="0" anchor="t">
            <a:spAutoFit/>
          </a:bodyPr>
          <a:lstStyle/>
          <a:p>
            <a:pPr algn="l">
              <a:lnSpc>
                <a:spcPct val="122000"/>
              </a:lnSpc>
            </a:pPr>
            <a:r>
              <a:rPr sz="950" b="1" i="0">
                <a:solidFill>
                  <a:srgbClr val="62798A"/>
                </a:solidFill>
                <a:latin typeface="Calibri"/>
              </a:rPr>
              <a:t>HYPERVISOR</a:t>
            </a:r>
          </a:p>
        </p:txBody>
      </p:sp>
      <p:sp>
        <p:nvSpPr>
          <p:cNvPr id="14" name="TextBox 13"/>
          <p:cNvSpPr txBox="1"/>
          <p:nvPr/>
        </p:nvSpPr>
        <p:spPr>
          <a:xfrm>
            <a:off x="1005840" y="4736592"/>
            <a:ext cx="3291840" cy="274320"/>
          </a:xfrm>
          <a:prstGeom prst="rect">
            <a:avLst/>
          </a:prstGeom>
          <a:noFill/>
        </p:spPr>
        <p:txBody>
          <a:bodyPr wrap="square" lIns="0" rIns="0" tIns="0" bIns="0" anchor="t">
            <a:spAutoFit/>
          </a:bodyPr>
          <a:lstStyle/>
          <a:p>
            <a:pPr algn="l">
              <a:lnSpc>
                <a:spcPct val="122000"/>
              </a:lnSpc>
            </a:pPr>
            <a:r>
              <a:rPr sz="1300" b="0" i="0">
                <a:solidFill>
                  <a:srgbClr val="FFFFFF"/>
                </a:solidFill>
                <a:latin typeface="Calibri"/>
              </a:rPr>
              <a:t>QEMU 10.2.1, -cpu host</a:t>
            </a:r>
          </a:p>
        </p:txBody>
      </p:sp>
      <p:sp>
        <p:nvSpPr>
          <p:cNvPr id="15" name="TextBox 14"/>
          <p:cNvSpPr txBox="1"/>
          <p:nvPr/>
        </p:nvSpPr>
        <p:spPr>
          <a:xfrm>
            <a:off x="1005840" y="5230368"/>
            <a:ext cx="3291840" cy="237744"/>
          </a:xfrm>
          <a:prstGeom prst="rect">
            <a:avLst/>
          </a:prstGeom>
          <a:noFill/>
        </p:spPr>
        <p:txBody>
          <a:bodyPr wrap="square" lIns="0" rIns="0" tIns="0" bIns="0" anchor="t">
            <a:spAutoFit/>
          </a:bodyPr>
          <a:lstStyle/>
          <a:p>
            <a:pPr algn="l">
              <a:lnSpc>
                <a:spcPct val="122000"/>
              </a:lnSpc>
            </a:pPr>
            <a:r>
              <a:rPr sz="950" b="1" i="0">
                <a:solidFill>
                  <a:srgbClr val="62798A"/>
                </a:solidFill>
                <a:latin typeface="Calibri"/>
              </a:rPr>
              <a:t>GUEST ACCESS</a:t>
            </a:r>
          </a:p>
        </p:txBody>
      </p:sp>
      <p:sp>
        <p:nvSpPr>
          <p:cNvPr id="16" name="TextBox 15"/>
          <p:cNvSpPr txBox="1"/>
          <p:nvPr/>
        </p:nvSpPr>
        <p:spPr>
          <a:xfrm>
            <a:off x="1005840" y="5468112"/>
            <a:ext cx="3291840" cy="274320"/>
          </a:xfrm>
          <a:prstGeom prst="rect">
            <a:avLst/>
          </a:prstGeom>
          <a:noFill/>
        </p:spPr>
        <p:txBody>
          <a:bodyPr wrap="square" lIns="0" rIns="0" tIns="0" bIns="0" anchor="t">
            <a:spAutoFit/>
          </a:bodyPr>
          <a:lstStyle/>
          <a:p>
            <a:pPr algn="l">
              <a:lnSpc>
                <a:spcPct val="122000"/>
              </a:lnSpc>
            </a:pPr>
            <a:r>
              <a:rPr sz="1300" b="0" i="0">
                <a:solidFill>
                  <a:srgbClr val="FFFFFF"/>
                </a:solidFill>
                <a:latin typeface="Calibri"/>
              </a:rPr>
              <a:t>/dev/kvm, no root needed</a:t>
            </a:r>
          </a:p>
        </p:txBody>
      </p:sp>
      <p:sp>
        <p:nvSpPr>
          <p:cNvPr id="17" name="Rounded Rectangle 16"/>
          <p:cNvSpPr/>
          <p:nvPr/>
        </p:nvSpPr>
        <p:spPr>
          <a:xfrm>
            <a:off x="4828032" y="1627632"/>
            <a:ext cx="6675120" cy="3310128"/>
          </a:xfrm>
          <a:prstGeom prst="roundRect">
            <a:avLst>
              <a:gd name="adj" fmla="val 248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1847088"/>
            <a:ext cx="6126480" cy="292608"/>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How the 57 GB is spent</a:t>
            </a:r>
          </a:p>
        </p:txBody>
      </p:sp>
      <p:sp>
        <p:nvSpPr>
          <p:cNvPr id="19" name="Rounded Rectangle 18"/>
          <p:cNvSpPr/>
          <p:nvPr/>
        </p:nvSpPr>
        <p:spPr>
          <a:xfrm>
            <a:off x="5120640" y="2267712"/>
            <a:ext cx="6108192" cy="274320"/>
          </a:xfrm>
          <a:prstGeom prst="roundRect">
            <a:avLst>
              <a:gd name="adj" fmla="val 16666"/>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0368" y="2267712"/>
            <a:ext cx="2651760" cy="274320"/>
          </a:xfrm>
          <a:prstGeom prst="rect">
            <a:avLst/>
          </a:prstGeom>
          <a:noFill/>
        </p:spPr>
        <p:txBody>
          <a:bodyPr wrap="square" lIns="0" rIns="0" tIns="0" bIns="0" anchor="ctr">
            <a:spAutoFit/>
          </a:bodyPr>
          <a:lstStyle/>
          <a:p>
            <a:pPr algn="l">
              <a:lnSpc>
                <a:spcPct val="122000"/>
              </a:lnSpc>
            </a:pPr>
            <a:r>
              <a:rPr sz="950" b="1" i="0">
                <a:solidFill>
                  <a:srgbClr val="62798A"/>
                </a:solidFill>
                <a:latin typeface="Calibri"/>
              </a:rPr>
              <a:t>VIRTUAL MACHINE</a:t>
            </a:r>
          </a:p>
        </p:txBody>
      </p:sp>
      <p:sp>
        <p:nvSpPr>
          <p:cNvPr id="21" name="TextBox 20"/>
          <p:cNvSpPr txBox="1"/>
          <p:nvPr/>
        </p:nvSpPr>
        <p:spPr>
          <a:xfrm>
            <a:off x="7909560" y="2267712"/>
            <a:ext cx="1645920" cy="274320"/>
          </a:xfrm>
          <a:prstGeom prst="rect">
            <a:avLst/>
          </a:prstGeom>
          <a:noFill/>
        </p:spPr>
        <p:txBody>
          <a:bodyPr wrap="square" lIns="0" rIns="0" tIns="0" bIns="0" anchor="ctr">
            <a:spAutoFit/>
          </a:bodyPr>
          <a:lstStyle/>
          <a:p>
            <a:pPr algn="l">
              <a:lnSpc>
                <a:spcPct val="122000"/>
              </a:lnSpc>
            </a:pPr>
            <a:r>
              <a:rPr sz="950" b="1" i="0">
                <a:solidFill>
                  <a:srgbClr val="62798A"/>
                </a:solidFill>
                <a:latin typeface="Calibri"/>
              </a:rPr>
              <a:t>IMAGE</a:t>
            </a:r>
          </a:p>
        </p:txBody>
      </p:sp>
      <p:sp>
        <p:nvSpPr>
          <p:cNvPr id="22" name="TextBox 21"/>
          <p:cNvSpPr txBox="1"/>
          <p:nvPr/>
        </p:nvSpPr>
        <p:spPr>
          <a:xfrm>
            <a:off x="9418320" y="2267712"/>
            <a:ext cx="777240" cy="274320"/>
          </a:xfrm>
          <a:prstGeom prst="rect">
            <a:avLst/>
          </a:prstGeom>
          <a:noFill/>
        </p:spPr>
        <p:txBody>
          <a:bodyPr wrap="square" lIns="0" rIns="0" tIns="0" bIns="0" anchor="ctr">
            <a:spAutoFit/>
          </a:bodyPr>
          <a:lstStyle/>
          <a:p>
            <a:pPr algn="l">
              <a:lnSpc>
                <a:spcPct val="122000"/>
              </a:lnSpc>
            </a:pPr>
            <a:r>
              <a:rPr sz="950" b="1" i="0">
                <a:solidFill>
                  <a:srgbClr val="62798A"/>
                </a:solidFill>
                <a:latin typeface="Calibri"/>
              </a:rPr>
              <a:t>CPU</a:t>
            </a:r>
          </a:p>
        </p:txBody>
      </p:sp>
      <p:sp>
        <p:nvSpPr>
          <p:cNvPr id="23" name="TextBox 22"/>
          <p:cNvSpPr txBox="1"/>
          <p:nvPr/>
        </p:nvSpPr>
        <p:spPr>
          <a:xfrm>
            <a:off x="10195560" y="2267712"/>
            <a:ext cx="1051560" cy="274320"/>
          </a:xfrm>
          <a:prstGeom prst="rect">
            <a:avLst/>
          </a:prstGeom>
          <a:noFill/>
        </p:spPr>
        <p:txBody>
          <a:bodyPr wrap="square" lIns="0" rIns="0" tIns="0" bIns="0" anchor="ctr">
            <a:spAutoFit/>
          </a:bodyPr>
          <a:lstStyle/>
          <a:p>
            <a:pPr algn="r">
              <a:lnSpc>
                <a:spcPct val="122000"/>
              </a:lnSpc>
            </a:pPr>
            <a:r>
              <a:rPr sz="950" b="1" i="0">
                <a:solidFill>
                  <a:srgbClr val="62798A"/>
                </a:solidFill>
                <a:latin typeface="Calibri"/>
              </a:rPr>
              <a:t>RAM</a:t>
            </a:r>
          </a:p>
        </p:txBody>
      </p:sp>
      <p:sp>
        <p:nvSpPr>
          <p:cNvPr id="24" name="TextBox 23"/>
          <p:cNvSpPr txBox="1"/>
          <p:nvPr/>
        </p:nvSpPr>
        <p:spPr>
          <a:xfrm>
            <a:off x="5230368" y="2615184"/>
            <a:ext cx="265176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R1  hub router</a:t>
            </a:r>
          </a:p>
        </p:txBody>
      </p:sp>
      <p:sp>
        <p:nvSpPr>
          <p:cNvPr id="25" name="TextBox 24"/>
          <p:cNvSpPr txBox="1"/>
          <p:nvPr/>
        </p:nvSpPr>
        <p:spPr>
          <a:xfrm>
            <a:off x="7909560" y="2615184"/>
            <a:ext cx="164592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Catalyst 8000V</a:t>
            </a:r>
          </a:p>
        </p:txBody>
      </p:sp>
      <p:sp>
        <p:nvSpPr>
          <p:cNvPr id="26" name="TextBox 25"/>
          <p:cNvSpPr txBox="1"/>
          <p:nvPr/>
        </p:nvSpPr>
        <p:spPr>
          <a:xfrm>
            <a:off x="9418320" y="2615184"/>
            <a:ext cx="7772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4 vCPU</a:t>
            </a:r>
          </a:p>
        </p:txBody>
      </p:sp>
      <p:sp>
        <p:nvSpPr>
          <p:cNvPr id="27" name="TextBox 26"/>
          <p:cNvSpPr txBox="1"/>
          <p:nvPr/>
        </p:nvSpPr>
        <p:spPr>
          <a:xfrm>
            <a:off x="10195560" y="2615184"/>
            <a:ext cx="1051560" cy="274320"/>
          </a:xfrm>
          <a:prstGeom prst="rect">
            <a:avLst/>
          </a:prstGeom>
          <a:noFill/>
        </p:spPr>
        <p:txBody>
          <a:bodyPr wrap="square" lIns="0" rIns="0" tIns="0" bIns="0" anchor="ctr">
            <a:spAutoFit/>
          </a:bodyPr>
          <a:lstStyle/>
          <a:p>
            <a:pPr algn="r">
              <a:lnSpc>
                <a:spcPct val="122000"/>
              </a:lnSpc>
            </a:pPr>
            <a:r>
              <a:rPr sz="1100" b="0" i="0">
                <a:solidFill>
                  <a:srgbClr val="16232B"/>
                </a:solidFill>
                <a:latin typeface="Calibri"/>
              </a:rPr>
              <a:t>8,192 MB</a:t>
            </a:r>
          </a:p>
        </p:txBody>
      </p:sp>
      <p:cxnSp>
        <p:nvCxnSpPr>
          <p:cNvPr id="28" name="Connector 27"/>
          <p:cNvCxnSpPr/>
          <p:nvPr/>
        </p:nvCxnSpPr>
        <p:spPr>
          <a:xfrm>
            <a:off x="5120640" y="2962656"/>
            <a:ext cx="610819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30368" y="2999232"/>
            <a:ext cx="265176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R2  spoke router</a:t>
            </a:r>
          </a:p>
        </p:txBody>
      </p:sp>
      <p:sp>
        <p:nvSpPr>
          <p:cNvPr id="30" name="TextBox 29"/>
          <p:cNvSpPr txBox="1"/>
          <p:nvPr/>
        </p:nvSpPr>
        <p:spPr>
          <a:xfrm>
            <a:off x="7909560" y="2999232"/>
            <a:ext cx="164592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Catalyst 8000V</a:t>
            </a:r>
          </a:p>
        </p:txBody>
      </p:sp>
      <p:sp>
        <p:nvSpPr>
          <p:cNvPr id="31" name="TextBox 30"/>
          <p:cNvSpPr txBox="1"/>
          <p:nvPr/>
        </p:nvSpPr>
        <p:spPr>
          <a:xfrm>
            <a:off x="9418320" y="2999232"/>
            <a:ext cx="7772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4 vCPU</a:t>
            </a:r>
          </a:p>
        </p:txBody>
      </p:sp>
      <p:sp>
        <p:nvSpPr>
          <p:cNvPr id="32" name="TextBox 31"/>
          <p:cNvSpPr txBox="1"/>
          <p:nvPr/>
        </p:nvSpPr>
        <p:spPr>
          <a:xfrm>
            <a:off x="10195560" y="2999232"/>
            <a:ext cx="1051560" cy="274320"/>
          </a:xfrm>
          <a:prstGeom prst="rect">
            <a:avLst/>
          </a:prstGeom>
          <a:noFill/>
        </p:spPr>
        <p:txBody>
          <a:bodyPr wrap="square" lIns="0" rIns="0" tIns="0" bIns="0" anchor="ctr">
            <a:spAutoFit/>
          </a:bodyPr>
          <a:lstStyle/>
          <a:p>
            <a:pPr algn="r">
              <a:lnSpc>
                <a:spcPct val="122000"/>
              </a:lnSpc>
            </a:pPr>
            <a:r>
              <a:rPr sz="1100" b="0" i="0">
                <a:solidFill>
                  <a:srgbClr val="16232B"/>
                </a:solidFill>
                <a:latin typeface="Calibri"/>
              </a:rPr>
              <a:t>8,192 MB</a:t>
            </a:r>
          </a:p>
        </p:txBody>
      </p:sp>
      <p:cxnSp>
        <p:nvCxnSpPr>
          <p:cNvPr id="33" name="Connector 32"/>
          <p:cNvCxnSpPr/>
          <p:nvPr/>
        </p:nvCxnSpPr>
        <p:spPr>
          <a:xfrm>
            <a:off x="5120640" y="3346703"/>
            <a:ext cx="610819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230368" y="3383279"/>
            <a:ext cx="265176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R3  spoke router</a:t>
            </a:r>
          </a:p>
        </p:txBody>
      </p:sp>
      <p:sp>
        <p:nvSpPr>
          <p:cNvPr id="35" name="TextBox 34"/>
          <p:cNvSpPr txBox="1"/>
          <p:nvPr/>
        </p:nvSpPr>
        <p:spPr>
          <a:xfrm>
            <a:off x="7909560" y="3383279"/>
            <a:ext cx="164592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Catalyst 8000V</a:t>
            </a:r>
          </a:p>
        </p:txBody>
      </p:sp>
      <p:sp>
        <p:nvSpPr>
          <p:cNvPr id="36" name="TextBox 35"/>
          <p:cNvSpPr txBox="1"/>
          <p:nvPr/>
        </p:nvSpPr>
        <p:spPr>
          <a:xfrm>
            <a:off x="9418320" y="3383279"/>
            <a:ext cx="7772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4 vCPU</a:t>
            </a:r>
          </a:p>
        </p:txBody>
      </p:sp>
      <p:sp>
        <p:nvSpPr>
          <p:cNvPr id="37" name="TextBox 36"/>
          <p:cNvSpPr txBox="1"/>
          <p:nvPr/>
        </p:nvSpPr>
        <p:spPr>
          <a:xfrm>
            <a:off x="10195560" y="3383279"/>
            <a:ext cx="1051560" cy="274320"/>
          </a:xfrm>
          <a:prstGeom prst="rect">
            <a:avLst/>
          </a:prstGeom>
          <a:noFill/>
        </p:spPr>
        <p:txBody>
          <a:bodyPr wrap="square" lIns="0" rIns="0" tIns="0" bIns="0" anchor="ctr">
            <a:spAutoFit/>
          </a:bodyPr>
          <a:lstStyle/>
          <a:p>
            <a:pPr algn="r">
              <a:lnSpc>
                <a:spcPct val="122000"/>
              </a:lnSpc>
            </a:pPr>
            <a:r>
              <a:rPr sz="1100" b="0" i="0">
                <a:solidFill>
                  <a:srgbClr val="16232B"/>
                </a:solidFill>
                <a:latin typeface="Calibri"/>
              </a:rPr>
              <a:t>8,192 MB</a:t>
            </a:r>
          </a:p>
        </p:txBody>
      </p:sp>
      <p:cxnSp>
        <p:nvCxnSpPr>
          <p:cNvPr id="38" name="Connector 37"/>
          <p:cNvCxnSpPr/>
          <p:nvPr/>
        </p:nvCxnSpPr>
        <p:spPr>
          <a:xfrm>
            <a:off x="5120640" y="3730752"/>
            <a:ext cx="610819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230368" y="3767328"/>
            <a:ext cx="2651760" cy="274320"/>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NMS  management server</a:t>
            </a:r>
          </a:p>
        </p:txBody>
      </p:sp>
      <p:sp>
        <p:nvSpPr>
          <p:cNvPr id="40" name="TextBox 39"/>
          <p:cNvSpPr txBox="1"/>
          <p:nvPr/>
        </p:nvSpPr>
        <p:spPr>
          <a:xfrm>
            <a:off x="7909560" y="3767328"/>
            <a:ext cx="164592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Ubuntu 24.04</a:t>
            </a:r>
          </a:p>
        </p:txBody>
      </p:sp>
      <p:sp>
        <p:nvSpPr>
          <p:cNvPr id="41" name="TextBox 40"/>
          <p:cNvSpPr txBox="1"/>
          <p:nvPr/>
        </p:nvSpPr>
        <p:spPr>
          <a:xfrm>
            <a:off x="9418320" y="3767328"/>
            <a:ext cx="7772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1 vCPU</a:t>
            </a:r>
          </a:p>
        </p:txBody>
      </p:sp>
      <p:sp>
        <p:nvSpPr>
          <p:cNvPr id="42" name="TextBox 41"/>
          <p:cNvSpPr txBox="1"/>
          <p:nvPr/>
        </p:nvSpPr>
        <p:spPr>
          <a:xfrm>
            <a:off x="10195560" y="3767328"/>
            <a:ext cx="1051560" cy="274320"/>
          </a:xfrm>
          <a:prstGeom prst="rect">
            <a:avLst/>
          </a:prstGeom>
          <a:noFill/>
        </p:spPr>
        <p:txBody>
          <a:bodyPr wrap="square" lIns="0" rIns="0" tIns="0" bIns="0" anchor="ctr">
            <a:spAutoFit/>
          </a:bodyPr>
          <a:lstStyle/>
          <a:p>
            <a:pPr algn="r">
              <a:lnSpc>
                <a:spcPct val="122000"/>
              </a:lnSpc>
            </a:pPr>
            <a:r>
              <a:rPr sz="1100" b="0" i="0">
                <a:solidFill>
                  <a:srgbClr val="16232B"/>
                </a:solidFill>
                <a:latin typeface="Calibri"/>
              </a:rPr>
              <a:t>1,024 MB</a:t>
            </a:r>
          </a:p>
        </p:txBody>
      </p:sp>
      <p:cxnSp>
        <p:nvCxnSpPr>
          <p:cNvPr id="43" name="Connector 42"/>
          <p:cNvCxnSpPr/>
          <p:nvPr/>
        </p:nvCxnSpPr>
        <p:spPr>
          <a:xfrm>
            <a:off x="5120640" y="4114800"/>
            <a:ext cx="610819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230368" y="4151376"/>
            <a:ext cx="2651760" cy="274320"/>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H1 / H2 / H3  end hosts</a:t>
            </a:r>
          </a:p>
        </p:txBody>
      </p:sp>
      <p:sp>
        <p:nvSpPr>
          <p:cNvPr id="45" name="TextBox 44"/>
          <p:cNvSpPr txBox="1"/>
          <p:nvPr/>
        </p:nvSpPr>
        <p:spPr>
          <a:xfrm>
            <a:off x="7909560" y="4151376"/>
            <a:ext cx="164592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CirrOS 0.6.2</a:t>
            </a:r>
          </a:p>
        </p:txBody>
      </p:sp>
      <p:sp>
        <p:nvSpPr>
          <p:cNvPr id="46" name="TextBox 45"/>
          <p:cNvSpPr txBox="1"/>
          <p:nvPr/>
        </p:nvSpPr>
        <p:spPr>
          <a:xfrm>
            <a:off x="9418320" y="4151376"/>
            <a:ext cx="7772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1 vCPU</a:t>
            </a:r>
          </a:p>
        </p:txBody>
      </p:sp>
      <p:sp>
        <p:nvSpPr>
          <p:cNvPr id="47" name="TextBox 46"/>
          <p:cNvSpPr txBox="1"/>
          <p:nvPr/>
        </p:nvSpPr>
        <p:spPr>
          <a:xfrm>
            <a:off x="10195560" y="4151376"/>
            <a:ext cx="1051560" cy="274320"/>
          </a:xfrm>
          <a:prstGeom prst="rect">
            <a:avLst/>
          </a:prstGeom>
          <a:noFill/>
        </p:spPr>
        <p:txBody>
          <a:bodyPr wrap="square" lIns="0" rIns="0" tIns="0" bIns="0" anchor="ctr">
            <a:spAutoFit/>
          </a:bodyPr>
          <a:lstStyle/>
          <a:p>
            <a:pPr algn="r">
              <a:lnSpc>
                <a:spcPct val="122000"/>
              </a:lnSpc>
            </a:pPr>
            <a:r>
              <a:rPr sz="1100" b="0" i="0">
                <a:solidFill>
                  <a:srgbClr val="16232B"/>
                </a:solidFill>
                <a:latin typeface="Calibri"/>
              </a:rPr>
              <a:t>256 MB each</a:t>
            </a:r>
          </a:p>
        </p:txBody>
      </p:sp>
      <p:cxnSp>
        <p:nvCxnSpPr>
          <p:cNvPr id="48" name="Connector 47"/>
          <p:cNvCxnSpPr/>
          <p:nvPr/>
        </p:nvCxnSpPr>
        <p:spPr>
          <a:xfrm>
            <a:off x="5120640" y="4498848"/>
            <a:ext cx="610819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230368" y="4572000"/>
            <a:ext cx="365760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Total committed</a:t>
            </a:r>
          </a:p>
        </p:txBody>
      </p:sp>
      <p:sp>
        <p:nvSpPr>
          <p:cNvPr id="50" name="TextBox 49"/>
          <p:cNvSpPr txBox="1"/>
          <p:nvPr/>
        </p:nvSpPr>
        <p:spPr>
          <a:xfrm>
            <a:off x="10195560" y="4572000"/>
            <a:ext cx="1051560" cy="274320"/>
          </a:xfrm>
          <a:prstGeom prst="rect">
            <a:avLst/>
          </a:prstGeom>
          <a:noFill/>
        </p:spPr>
        <p:txBody>
          <a:bodyPr wrap="square" lIns="0" rIns="0" tIns="0" bIns="0" anchor="ctr">
            <a:spAutoFit/>
          </a:bodyPr>
          <a:lstStyle/>
          <a:p>
            <a:pPr algn="r">
              <a:lnSpc>
                <a:spcPct val="122000"/>
              </a:lnSpc>
            </a:pPr>
            <a:r>
              <a:rPr sz="1150" b="1" i="0">
                <a:solidFill>
                  <a:srgbClr val="00A896"/>
                </a:solidFill>
                <a:latin typeface="Calibri"/>
              </a:rPr>
              <a:t>25.8 GB</a:t>
            </a:r>
          </a:p>
        </p:txBody>
      </p:sp>
      <p:sp>
        <p:nvSpPr>
          <p:cNvPr id="51" name="Rounded Rectangle 50"/>
          <p:cNvSpPr/>
          <p:nvPr/>
        </p:nvSpPr>
        <p:spPr>
          <a:xfrm>
            <a:off x="4828032" y="5102352"/>
            <a:ext cx="6675120" cy="960120"/>
          </a:xfrm>
          <a:prstGeom prst="roundRect">
            <a:avLst>
              <a:gd name="adj" fmla="val 857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120640" y="5358384"/>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5266944"/>
            <a:ext cx="5852160" cy="256032"/>
          </a:xfrm>
          <a:prstGeom prst="rect">
            <a:avLst/>
          </a:prstGeom>
          <a:noFill/>
        </p:spPr>
        <p:txBody>
          <a:bodyPr wrap="square" lIns="0" rIns="0" tIns="0" bIns="0" anchor="t">
            <a:spAutoFit/>
          </a:bodyPr>
          <a:lstStyle/>
          <a:p>
            <a:pPr algn="l">
              <a:lnSpc>
                <a:spcPct val="122000"/>
              </a:lnSpc>
            </a:pPr>
            <a:r>
              <a:rPr sz="1300" b="1" i="0">
                <a:solidFill>
                  <a:srgbClr val="16232B"/>
                </a:solidFill>
                <a:latin typeface="Cambria"/>
              </a:rPr>
              <a:t>The one real constraint</a:t>
            </a:r>
          </a:p>
        </p:txBody>
      </p:sp>
      <p:sp>
        <p:nvSpPr>
          <p:cNvPr id="54" name="TextBox 53"/>
          <p:cNvSpPr txBox="1"/>
          <p:nvPr/>
        </p:nvSpPr>
        <p:spPr>
          <a:xfrm>
            <a:off x="5413248" y="5541264"/>
            <a:ext cx="5852160" cy="438912"/>
          </a:xfrm>
          <a:prstGeom prst="rect">
            <a:avLst/>
          </a:prstGeom>
          <a:noFill/>
        </p:spPr>
        <p:txBody>
          <a:bodyPr wrap="square" lIns="0" rIns="0" tIns="0" bIns="0" anchor="t">
            <a:spAutoFit/>
          </a:bodyPr>
          <a:lstStyle/>
          <a:p>
            <a:pPr algn="l">
              <a:lnSpc>
                <a:spcPct val="128000"/>
              </a:lnSpc>
            </a:pPr>
            <a:r>
              <a:rPr sz="1150" b="0" i="0">
                <a:solidFill>
                  <a:srgbClr val="62798A"/>
                </a:solidFill>
                <a:latin typeface="Calibri"/>
              </a:rPr>
              <a:t>Two labs of this size cannot run at once — 25.8 GB each against 57 GB. The DMVPN and VTI labs alternate.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The network under test</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Hub-and-spoke DMVPN over a shared WAN, with an out-of-band management plane</a:t>
            </a:r>
          </a:p>
        </p:txBody>
      </p:sp>
      <p:sp>
        <p:nvSpPr>
          <p:cNvPr id="5" name="Rounded Rectangle 4"/>
          <p:cNvSpPr/>
          <p:nvPr/>
        </p:nvSpPr>
        <p:spPr>
          <a:xfrm>
            <a:off x="685800" y="1645920"/>
            <a:ext cx="10817352" cy="1243584"/>
          </a:xfrm>
          <a:prstGeom prst="roundRect">
            <a:avLst>
              <a:gd name="adj" fmla="val 661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773936"/>
            <a:ext cx="2926080" cy="237744"/>
          </a:xfrm>
          <a:prstGeom prst="rect">
            <a:avLst/>
          </a:prstGeom>
          <a:noFill/>
        </p:spPr>
        <p:txBody>
          <a:bodyPr wrap="square" lIns="0" rIns="0" tIns="0" bIns="0" anchor="t">
            <a:spAutoFit/>
          </a:bodyPr>
          <a:lstStyle/>
          <a:p>
            <a:pPr algn="l">
              <a:lnSpc>
                <a:spcPct val="122000"/>
              </a:lnSpc>
            </a:pPr>
            <a:r>
              <a:rPr sz="1050" b="1" i="0">
                <a:solidFill>
                  <a:srgbClr val="62798A"/>
                </a:solidFill>
                <a:latin typeface="Calibri"/>
              </a:rPr>
              <a:t>WAN  100.64.0.0/24</a:t>
            </a:r>
          </a:p>
        </p:txBody>
      </p:sp>
      <p:cxnSp>
        <p:nvCxnSpPr>
          <p:cNvPr id="7" name="Connector 6"/>
          <p:cNvCxnSpPr/>
          <p:nvPr/>
        </p:nvCxnSpPr>
        <p:spPr>
          <a:xfrm>
            <a:off x="960120" y="2487168"/>
            <a:ext cx="10268712" cy="0"/>
          </a:xfrm>
          <a:prstGeom prst="line">
            <a:avLst/>
          </a:prstGeom>
          <a:ln w="19050">
            <a:solidFill>
              <a:srgbClr val="6279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108960" y="2487168"/>
            <a:ext cx="0" cy="530352"/>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331720" y="3017520"/>
            <a:ext cx="1554480" cy="841248"/>
          </a:xfrm>
          <a:prstGeom prst="roundRect">
            <a:avLst>
              <a:gd name="adj" fmla="val 8695"/>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3108960"/>
            <a:ext cx="1554480" cy="310896"/>
          </a:xfrm>
          <a:prstGeom prst="rect">
            <a:avLst/>
          </a:prstGeom>
          <a:noFill/>
        </p:spPr>
        <p:txBody>
          <a:bodyPr wrap="square" lIns="0" rIns="0" tIns="0" bIns="0" anchor="t">
            <a:spAutoFit/>
          </a:bodyPr>
          <a:lstStyle/>
          <a:p>
            <a:pPr algn="ctr">
              <a:lnSpc>
                <a:spcPct val="122000"/>
              </a:lnSpc>
            </a:pPr>
            <a:r>
              <a:rPr sz="1900" b="1" i="0">
                <a:solidFill>
                  <a:srgbClr val="FFFFFF"/>
                </a:solidFill>
                <a:latin typeface="Cambria"/>
              </a:rPr>
              <a:t>R1</a:t>
            </a:r>
          </a:p>
        </p:txBody>
      </p:sp>
      <p:sp>
        <p:nvSpPr>
          <p:cNvPr id="11" name="TextBox 10"/>
          <p:cNvSpPr txBox="1"/>
          <p:nvPr/>
        </p:nvSpPr>
        <p:spPr>
          <a:xfrm>
            <a:off x="2331720" y="3419856"/>
            <a:ext cx="1554480" cy="237744"/>
          </a:xfrm>
          <a:prstGeom prst="rect">
            <a:avLst/>
          </a:prstGeom>
          <a:noFill/>
        </p:spPr>
        <p:txBody>
          <a:bodyPr wrap="square" lIns="0" rIns="0" tIns="0" bIns="0" anchor="t">
            <a:spAutoFit/>
          </a:bodyPr>
          <a:lstStyle/>
          <a:p>
            <a:pPr algn="ctr">
              <a:lnSpc>
                <a:spcPct val="122000"/>
              </a:lnSpc>
            </a:pPr>
            <a:r>
              <a:rPr sz="1000" b="0" i="0">
                <a:solidFill>
                  <a:srgbClr val="00A896"/>
                </a:solidFill>
                <a:latin typeface="Calibri"/>
              </a:rPr>
              <a:t>hub</a:t>
            </a:r>
          </a:p>
        </p:txBody>
      </p:sp>
      <p:sp>
        <p:nvSpPr>
          <p:cNvPr id="12" name="TextBox 11"/>
          <p:cNvSpPr txBox="1"/>
          <p:nvPr/>
        </p:nvSpPr>
        <p:spPr>
          <a:xfrm>
            <a:off x="2331720" y="3657600"/>
            <a:ext cx="1554480" cy="201168"/>
          </a:xfrm>
          <a:prstGeom prst="rect">
            <a:avLst/>
          </a:prstGeom>
          <a:noFill/>
        </p:spPr>
        <p:txBody>
          <a:bodyPr wrap="square" lIns="0" rIns="0" tIns="0" bIns="0" anchor="t">
            <a:spAutoFit/>
          </a:bodyPr>
          <a:lstStyle/>
          <a:p>
            <a:pPr algn="ctr">
              <a:lnSpc>
                <a:spcPct val="122000"/>
              </a:lnSpc>
            </a:pPr>
            <a:r>
              <a:rPr sz="900" b="0" i="0">
                <a:solidFill>
                  <a:srgbClr val="62798A"/>
                </a:solidFill>
                <a:latin typeface="Calibri"/>
              </a:rPr>
              <a:t>AS 65001</a:t>
            </a:r>
          </a:p>
        </p:txBody>
      </p:sp>
      <p:sp>
        <p:nvSpPr>
          <p:cNvPr id="13" name="TextBox 12"/>
          <p:cNvSpPr txBox="1"/>
          <p:nvPr/>
        </p:nvSpPr>
        <p:spPr>
          <a:xfrm>
            <a:off x="2057400" y="2212848"/>
            <a:ext cx="2103120" cy="219456"/>
          </a:xfrm>
          <a:prstGeom prst="rect">
            <a:avLst/>
          </a:prstGeom>
          <a:noFill/>
        </p:spPr>
        <p:txBody>
          <a:bodyPr wrap="square" lIns="0" rIns="0" tIns="0" bIns="0" anchor="t">
            <a:spAutoFit/>
          </a:bodyPr>
          <a:lstStyle/>
          <a:p>
            <a:pPr algn="ctr">
              <a:lnSpc>
                <a:spcPct val="122000"/>
              </a:lnSpc>
            </a:pPr>
            <a:r>
              <a:rPr sz="950" b="0" i="0">
                <a:solidFill>
                  <a:srgbClr val="62798A"/>
                </a:solidFill>
                <a:latin typeface="Calibri"/>
              </a:rPr>
              <a:t>100.64.0.1</a:t>
            </a:r>
          </a:p>
        </p:txBody>
      </p:sp>
      <p:cxnSp>
        <p:nvCxnSpPr>
          <p:cNvPr id="14" name="Connector 13"/>
          <p:cNvCxnSpPr/>
          <p:nvPr/>
        </p:nvCxnSpPr>
        <p:spPr>
          <a:xfrm>
            <a:off x="6583679" y="2487168"/>
            <a:ext cx="0" cy="530352"/>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06440" y="3017520"/>
            <a:ext cx="1554480" cy="841248"/>
          </a:xfrm>
          <a:prstGeom prst="roundRect">
            <a:avLst>
              <a:gd name="adj" fmla="val 8695"/>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3108960"/>
            <a:ext cx="1554480" cy="310896"/>
          </a:xfrm>
          <a:prstGeom prst="rect">
            <a:avLst/>
          </a:prstGeom>
          <a:noFill/>
        </p:spPr>
        <p:txBody>
          <a:bodyPr wrap="square" lIns="0" rIns="0" tIns="0" bIns="0" anchor="t">
            <a:spAutoFit/>
          </a:bodyPr>
          <a:lstStyle/>
          <a:p>
            <a:pPr algn="ctr">
              <a:lnSpc>
                <a:spcPct val="122000"/>
              </a:lnSpc>
            </a:pPr>
            <a:r>
              <a:rPr sz="1900" b="1" i="0">
                <a:solidFill>
                  <a:srgbClr val="FFFFFF"/>
                </a:solidFill>
                <a:latin typeface="Cambria"/>
              </a:rPr>
              <a:t>R2</a:t>
            </a:r>
          </a:p>
        </p:txBody>
      </p:sp>
      <p:sp>
        <p:nvSpPr>
          <p:cNvPr id="17" name="TextBox 16"/>
          <p:cNvSpPr txBox="1"/>
          <p:nvPr/>
        </p:nvSpPr>
        <p:spPr>
          <a:xfrm>
            <a:off x="5806440" y="3419856"/>
            <a:ext cx="1554480" cy="237744"/>
          </a:xfrm>
          <a:prstGeom prst="rect">
            <a:avLst/>
          </a:prstGeom>
          <a:noFill/>
        </p:spPr>
        <p:txBody>
          <a:bodyPr wrap="square" lIns="0" rIns="0" tIns="0" bIns="0" anchor="t">
            <a:spAutoFit/>
          </a:bodyPr>
          <a:lstStyle/>
          <a:p>
            <a:pPr algn="ctr">
              <a:lnSpc>
                <a:spcPct val="122000"/>
              </a:lnSpc>
            </a:pPr>
            <a:r>
              <a:rPr sz="1000" b="0" i="0">
                <a:solidFill>
                  <a:srgbClr val="00A896"/>
                </a:solidFill>
                <a:latin typeface="Calibri"/>
              </a:rPr>
              <a:t>spoke</a:t>
            </a:r>
          </a:p>
        </p:txBody>
      </p:sp>
      <p:sp>
        <p:nvSpPr>
          <p:cNvPr id="18" name="TextBox 17"/>
          <p:cNvSpPr txBox="1"/>
          <p:nvPr/>
        </p:nvSpPr>
        <p:spPr>
          <a:xfrm>
            <a:off x="5806440" y="3657600"/>
            <a:ext cx="1554480" cy="201168"/>
          </a:xfrm>
          <a:prstGeom prst="rect">
            <a:avLst/>
          </a:prstGeom>
          <a:noFill/>
        </p:spPr>
        <p:txBody>
          <a:bodyPr wrap="square" lIns="0" rIns="0" tIns="0" bIns="0" anchor="t">
            <a:spAutoFit/>
          </a:bodyPr>
          <a:lstStyle/>
          <a:p>
            <a:pPr algn="ctr">
              <a:lnSpc>
                <a:spcPct val="122000"/>
              </a:lnSpc>
            </a:pPr>
            <a:r>
              <a:rPr sz="900" b="0" i="0">
                <a:solidFill>
                  <a:srgbClr val="62798A"/>
                </a:solidFill>
                <a:latin typeface="Calibri"/>
              </a:rPr>
              <a:t>AS 65002</a:t>
            </a:r>
          </a:p>
        </p:txBody>
      </p:sp>
      <p:sp>
        <p:nvSpPr>
          <p:cNvPr id="19" name="TextBox 18"/>
          <p:cNvSpPr txBox="1"/>
          <p:nvPr/>
        </p:nvSpPr>
        <p:spPr>
          <a:xfrm>
            <a:off x="5532120" y="2212848"/>
            <a:ext cx="2103120" cy="219456"/>
          </a:xfrm>
          <a:prstGeom prst="rect">
            <a:avLst/>
          </a:prstGeom>
          <a:noFill/>
        </p:spPr>
        <p:txBody>
          <a:bodyPr wrap="square" lIns="0" rIns="0" tIns="0" bIns="0" anchor="t">
            <a:spAutoFit/>
          </a:bodyPr>
          <a:lstStyle/>
          <a:p>
            <a:pPr algn="ctr">
              <a:lnSpc>
                <a:spcPct val="122000"/>
              </a:lnSpc>
            </a:pPr>
            <a:r>
              <a:rPr sz="950" b="0" i="0">
                <a:solidFill>
                  <a:srgbClr val="62798A"/>
                </a:solidFill>
                <a:latin typeface="Calibri"/>
              </a:rPr>
              <a:t>100.64.0.2</a:t>
            </a:r>
          </a:p>
        </p:txBody>
      </p:sp>
      <p:cxnSp>
        <p:nvCxnSpPr>
          <p:cNvPr id="20" name="Connector 19"/>
          <p:cNvCxnSpPr/>
          <p:nvPr/>
        </p:nvCxnSpPr>
        <p:spPr>
          <a:xfrm>
            <a:off x="10058400" y="2487168"/>
            <a:ext cx="0" cy="530352"/>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81160" y="3017520"/>
            <a:ext cx="1554480" cy="841248"/>
          </a:xfrm>
          <a:prstGeom prst="roundRect">
            <a:avLst>
              <a:gd name="adj" fmla="val 8695"/>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3108960"/>
            <a:ext cx="1554480" cy="310896"/>
          </a:xfrm>
          <a:prstGeom prst="rect">
            <a:avLst/>
          </a:prstGeom>
          <a:noFill/>
        </p:spPr>
        <p:txBody>
          <a:bodyPr wrap="square" lIns="0" rIns="0" tIns="0" bIns="0" anchor="t">
            <a:spAutoFit/>
          </a:bodyPr>
          <a:lstStyle/>
          <a:p>
            <a:pPr algn="ctr">
              <a:lnSpc>
                <a:spcPct val="122000"/>
              </a:lnSpc>
            </a:pPr>
            <a:r>
              <a:rPr sz="1900" b="1" i="0">
                <a:solidFill>
                  <a:srgbClr val="FFFFFF"/>
                </a:solidFill>
                <a:latin typeface="Cambria"/>
              </a:rPr>
              <a:t>R3</a:t>
            </a:r>
          </a:p>
        </p:txBody>
      </p:sp>
      <p:sp>
        <p:nvSpPr>
          <p:cNvPr id="23" name="TextBox 22"/>
          <p:cNvSpPr txBox="1"/>
          <p:nvPr/>
        </p:nvSpPr>
        <p:spPr>
          <a:xfrm>
            <a:off x="9281160" y="3419856"/>
            <a:ext cx="1554480" cy="237744"/>
          </a:xfrm>
          <a:prstGeom prst="rect">
            <a:avLst/>
          </a:prstGeom>
          <a:noFill/>
        </p:spPr>
        <p:txBody>
          <a:bodyPr wrap="square" lIns="0" rIns="0" tIns="0" bIns="0" anchor="t">
            <a:spAutoFit/>
          </a:bodyPr>
          <a:lstStyle/>
          <a:p>
            <a:pPr algn="ctr">
              <a:lnSpc>
                <a:spcPct val="122000"/>
              </a:lnSpc>
            </a:pPr>
            <a:r>
              <a:rPr sz="1000" b="0" i="0">
                <a:solidFill>
                  <a:srgbClr val="00A896"/>
                </a:solidFill>
                <a:latin typeface="Calibri"/>
              </a:rPr>
              <a:t>spoke</a:t>
            </a:r>
          </a:p>
        </p:txBody>
      </p:sp>
      <p:sp>
        <p:nvSpPr>
          <p:cNvPr id="24" name="TextBox 23"/>
          <p:cNvSpPr txBox="1"/>
          <p:nvPr/>
        </p:nvSpPr>
        <p:spPr>
          <a:xfrm>
            <a:off x="9281160" y="3657600"/>
            <a:ext cx="1554480" cy="201168"/>
          </a:xfrm>
          <a:prstGeom prst="rect">
            <a:avLst/>
          </a:prstGeom>
          <a:noFill/>
        </p:spPr>
        <p:txBody>
          <a:bodyPr wrap="square" lIns="0" rIns="0" tIns="0" bIns="0" anchor="t">
            <a:spAutoFit/>
          </a:bodyPr>
          <a:lstStyle/>
          <a:p>
            <a:pPr algn="ctr">
              <a:lnSpc>
                <a:spcPct val="122000"/>
              </a:lnSpc>
            </a:pPr>
            <a:r>
              <a:rPr sz="900" b="0" i="0">
                <a:solidFill>
                  <a:srgbClr val="62798A"/>
                </a:solidFill>
                <a:latin typeface="Calibri"/>
              </a:rPr>
              <a:t>AS 65003</a:t>
            </a:r>
          </a:p>
        </p:txBody>
      </p:sp>
      <p:sp>
        <p:nvSpPr>
          <p:cNvPr id="25" name="TextBox 24"/>
          <p:cNvSpPr txBox="1"/>
          <p:nvPr/>
        </p:nvSpPr>
        <p:spPr>
          <a:xfrm>
            <a:off x="9006840" y="2212848"/>
            <a:ext cx="2103120" cy="219456"/>
          </a:xfrm>
          <a:prstGeom prst="rect">
            <a:avLst/>
          </a:prstGeom>
          <a:noFill/>
        </p:spPr>
        <p:txBody>
          <a:bodyPr wrap="square" lIns="0" rIns="0" tIns="0" bIns="0" anchor="t">
            <a:spAutoFit/>
          </a:bodyPr>
          <a:lstStyle/>
          <a:p>
            <a:pPr algn="ctr">
              <a:lnSpc>
                <a:spcPct val="122000"/>
              </a:lnSpc>
            </a:pPr>
            <a:r>
              <a:rPr sz="950" b="0" i="0">
                <a:solidFill>
                  <a:srgbClr val="62798A"/>
                </a:solidFill>
                <a:latin typeface="Calibri"/>
              </a:rPr>
              <a:t>100.64.0.3</a:t>
            </a:r>
          </a:p>
        </p:txBody>
      </p:sp>
      <p:sp>
        <p:nvSpPr>
          <p:cNvPr id="26" name="Rounded Rectangle 25"/>
          <p:cNvSpPr/>
          <p:nvPr/>
        </p:nvSpPr>
        <p:spPr>
          <a:xfrm>
            <a:off x="2331720" y="4041648"/>
            <a:ext cx="8503920" cy="548640"/>
          </a:xfrm>
          <a:prstGeom prst="roundRect">
            <a:avLst>
              <a:gd name="adj" fmla="val 13333"/>
            </a:avLst>
          </a:prstGeom>
          <a:solidFill>
            <a:srgbClr val="FFFFFF"/>
          </a:solidFill>
          <a:ln w="1905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4041648"/>
            <a:ext cx="4023360" cy="548640"/>
          </a:xfrm>
          <a:prstGeom prst="rect">
            <a:avLst/>
          </a:prstGeom>
          <a:noFill/>
        </p:spPr>
        <p:txBody>
          <a:bodyPr wrap="square" lIns="0" rIns="0" tIns="0" bIns="0" anchor="ctr">
            <a:spAutoFit/>
          </a:bodyPr>
          <a:lstStyle/>
          <a:p>
            <a:pPr algn="l">
              <a:lnSpc>
                <a:spcPct val="122000"/>
              </a:lnSpc>
            </a:pPr>
            <a:r>
              <a:rPr sz="1150" b="1" i="0">
                <a:solidFill>
                  <a:srgbClr val="017F73"/>
                </a:solidFill>
                <a:latin typeface="Calibri"/>
              </a:rPr>
              <a:t>DMVPN overlay  Tunnel0  172.20.0.0/24</a:t>
            </a:r>
          </a:p>
        </p:txBody>
      </p:sp>
      <p:sp>
        <p:nvSpPr>
          <p:cNvPr id="28" name="TextBox 27"/>
          <p:cNvSpPr txBox="1"/>
          <p:nvPr/>
        </p:nvSpPr>
        <p:spPr>
          <a:xfrm>
            <a:off x="6583680" y="4041648"/>
            <a:ext cx="4114800" cy="548640"/>
          </a:xfrm>
          <a:prstGeom prst="rect">
            <a:avLst/>
          </a:prstGeom>
          <a:noFill/>
        </p:spPr>
        <p:txBody>
          <a:bodyPr wrap="square" lIns="0" rIns="0" tIns="0" bIns="0" anchor="ctr">
            <a:spAutoFit/>
          </a:bodyPr>
          <a:lstStyle/>
          <a:p>
            <a:pPr algn="r">
              <a:lnSpc>
                <a:spcPct val="122000"/>
              </a:lnSpc>
            </a:pPr>
            <a:r>
              <a:rPr sz="1050" b="0" i="0">
                <a:solidFill>
                  <a:srgbClr val="62798A"/>
                </a:solidFill>
                <a:latin typeface="Calibri"/>
              </a:rPr>
              <a:t>mGRE + IPsec + NHRP  ·  eBGP over the tunnel</a:t>
            </a:r>
          </a:p>
        </p:txBody>
      </p:sp>
      <p:sp>
        <p:nvSpPr>
          <p:cNvPr id="29" name="TextBox 28"/>
          <p:cNvSpPr txBox="1"/>
          <p:nvPr/>
        </p:nvSpPr>
        <p:spPr>
          <a:xfrm>
            <a:off x="2331720" y="4626864"/>
            <a:ext cx="8503920" cy="237744"/>
          </a:xfrm>
          <a:prstGeom prst="rect">
            <a:avLst/>
          </a:prstGeom>
          <a:noFill/>
        </p:spPr>
        <p:txBody>
          <a:bodyPr wrap="square" lIns="0" rIns="0" tIns="0" bIns="0" anchor="t">
            <a:spAutoFit/>
          </a:bodyPr>
          <a:lstStyle/>
          <a:p>
            <a:pPr algn="ctr">
              <a:lnSpc>
                <a:spcPct val="122000"/>
              </a:lnSpc>
            </a:pPr>
            <a:r>
              <a:rPr sz="1000" b="0" i="1">
                <a:solidFill>
                  <a:srgbClr val="62798A"/>
                </a:solidFill>
                <a:latin typeface="Calibri"/>
              </a:rPr>
              <a:t>Spokes register with the hub, then build direct spoke-to-spoke tunnels on demand</a:t>
            </a:r>
          </a:p>
        </p:txBody>
      </p:sp>
      <p:cxnSp>
        <p:nvCxnSpPr>
          <p:cNvPr id="30" name="Connector 29"/>
          <p:cNvCxnSpPr/>
          <p:nvPr/>
        </p:nvCxnSpPr>
        <p:spPr>
          <a:xfrm>
            <a:off x="3108960" y="4919472"/>
            <a:ext cx="0" cy="310896"/>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331720" y="5230368"/>
            <a:ext cx="1554480" cy="566928"/>
          </a:xfrm>
          <a:prstGeom prst="roundRect">
            <a:avLst>
              <a:gd name="adj" fmla="val 12903"/>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31720" y="5285232"/>
            <a:ext cx="1554480" cy="256032"/>
          </a:xfrm>
          <a:prstGeom prst="rect">
            <a:avLst/>
          </a:prstGeom>
          <a:noFill/>
        </p:spPr>
        <p:txBody>
          <a:bodyPr wrap="square" lIns="0" rIns="0" tIns="0" bIns="0" anchor="t">
            <a:spAutoFit/>
          </a:bodyPr>
          <a:lstStyle/>
          <a:p>
            <a:pPr algn="ctr">
              <a:lnSpc>
                <a:spcPct val="122000"/>
              </a:lnSpc>
            </a:pPr>
            <a:r>
              <a:rPr sz="1250" b="1" i="0">
                <a:solidFill>
                  <a:srgbClr val="16232B"/>
                </a:solidFill>
                <a:latin typeface="Calibri"/>
              </a:rPr>
              <a:t>H1</a:t>
            </a:r>
          </a:p>
        </p:txBody>
      </p:sp>
      <p:sp>
        <p:nvSpPr>
          <p:cNvPr id="33" name="TextBox 32"/>
          <p:cNvSpPr txBox="1"/>
          <p:nvPr/>
        </p:nvSpPr>
        <p:spPr>
          <a:xfrm>
            <a:off x="2331720" y="5522976"/>
            <a:ext cx="1554480" cy="219456"/>
          </a:xfrm>
          <a:prstGeom prst="rect">
            <a:avLst/>
          </a:prstGeom>
          <a:noFill/>
        </p:spPr>
        <p:txBody>
          <a:bodyPr wrap="square" lIns="0" rIns="0" tIns="0" bIns="0" anchor="t">
            <a:spAutoFit/>
          </a:bodyPr>
          <a:lstStyle/>
          <a:p>
            <a:pPr algn="ctr">
              <a:lnSpc>
                <a:spcPct val="122000"/>
              </a:lnSpc>
            </a:pPr>
            <a:r>
              <a:rPr sz="850" b="0" i="0">
                <a:solidFill>
                  <a:srgbClr val="62798A"/>
                </a:solidFill>
                <a:latin typeface="Calibri"/>
              </a:rPr>
              <a:t>192.168.10.0/24</a:t>
            </a:r>
          </a:p>
        </p:txBody>
      </p:sp>
      <p:cxnSp>
        <p:nvCxnSpPr>
          <p:cNvPr id="34" name="Connector 33"/>
          <p:cNvCxnSpPr/>
          <p:nvPr/>
        </p:nvCxnSpPr>
        <p:spPr>
          <a:xfrm>
            <a:off x="6583679" y="4919472"/>
            <a:ext cx="0" cy="310896"/>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806440" y="5230368"/>
            <a:ext cx="1554480" cy="566928"/>
          </a:xfrm>
          <a:prstGeom prst="roundRect">
            <a:avLst>
              <a:gd name="adj" fmla="val 12903"/>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06440" y="5285232"/>
            <a:ext cx="1554480" cy="256032"/>
          </a:xfrm>
          <a:prstGeom prst="rect">
            <a:avLst/>
          </a:prstGeom>
          <a:noFill/>
        </p:spPr>
        <p:txBody>
          <a:bodyPr wrap="square" lIns="0" rIns="0" tIns="0" bIns="0" anchor="t">
            <a:spAutoFit/>
          </a:bodyPr>
          <a:lstStyle/>
          <a:p>
            <a:pPr algn="ctr">
              <a:lnSpc>
                <a:spcPct val="122000"/>
              </a:lnSpc>
            </a:pPr>
            <a:r>
              <a:rPr sz="1250" b="1" i="0">
                <a:solidFill>
                  <a:srgbClr val="16232B"/>
                </a:solidFill>
                <a:latin typeface="Calibri"/>
              </a:rPr>
              <a:t>H2</a:t>
            </a:r>
          </a:p>
        </p:txBody>
      </p:sp>
      <p:sp>
        <p:nvSpPr>
          <p:cNvPr id="37" name="TextBox 36"/>
          <p:cNvSpPr txBox="1"/>
          <p:nvPr/>
        </p:nvSpPr>
        <p:spPr>
          <a:xfrm>
            <a:off x="5806440" y="5522976"/>
            <a:ext cx="1554480" cy="219456"/>
          </a:xfrm>
          <a:prstGeom prst="rect">
            <a:avLst/>
          </a:prstGeom>
          <a:noFill/>
        </p:spPr>
        <p:txBody>
          <a:bodyPr wrap="square" lIns="0" rIns="0" tIns="0" bIns="0" anchor="t">
            <a:spAutoFit/>
          </a:bodyPr>
          <a:lstStyle/>
          <a:p>
            <a:pPr algn="ctr">
              <a:lnSpc>
                <a:spcPct val="122000"/>
              </a:lnSpc>
            </a:pPr>
            <a:r>
              <a:rPr sz="850" b="0" i="0">
                <a:solidFill>
                  <a:srgbClr val="62798A"/>
                </a:solidFill>
                <a:latin typeface="Calibri"/>
              </a:rPr>
              <a:t>192.168.20.0/24</a:t>
            </a:r>
          </a:p>
        </p:txBody>
      </p:sp>
      <p:cxnSp>
        <p:nvCxnSpPr>
          <p:cNvPr id="38" name="Connector 37"/>
          <p:cNvCxnSpPr/>
          <p:nvPr/>
        </p:nvCxnSpPr>
        <p:spPr>
          <a:xfrm>
            <a:off x="10058400" y="4919472"/>
            <a:ext cx="0" cy="310896"/>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281160" y="5230368"/>
            <a:ext cx="1554480" cy="566928"/>
          </a:xfrm>
          <a:prstGeom prst="roundRect">
            <a:avLst>
              <a:gd name="adj" fmla="val 12903"/>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81160" y="5285232"/>
            <a:ext cx="1554480" cy="256032"/>
          </a:xfrm>
          <a:prstGeom prst="rect">
            <a:avLst/>
          </a:prstGeom>
          <a:noFill/>
        </p:spPr>
        <p:txBody>
          <a:bodyPr wrap="square" lIns="0" rIns="0" tIns="0" bIns="0" anchor="t">
            <a:spAutoFit/>
          </a:bodyPr>
          <a:lstStyle/>
          <a:p>
            <a:pPr algn="ctr">
              <a:lnSpc>
                <a:spcPct val="122000"/>
              </a:lnSpc>
            </a:pPr>
            <a:r>
              <a:rPr sz="1250" b="1" i="0">
                <a:solidFill>
                  <a:srgbClr val="16232B"/>
                </a:solidFill>
                <a:latin typeface="Calibri"/>
              </a:rPr>
              <a:t>H3</a:t>
            </a:r>
          </a:p>
        </p:txBody>
      </p:sp>
      <p:sp>
        <p:nvSpPr>
          <p:cNvPr id="41" name="TextBox 40"/>
          <p:cNvSpPr txBox="1"/>
          <p:nvPr/>
        </p:nvSpPr>
        <p:spPr>
          <a:xfrm>
            <a:off x="9281160" y="5522976"/>
            <a:ext cx="1554480" cy="219456"/>
          </a:xfrm>
          <a:prstGeom prst="rect">
            <a:avLst/>
          </a:prstGeom>
          <a:noFill/>
        </p:spPr>
        <p:txBody>
          <a:bodyPr wrap="square" lIns="0" rIns="0" tIns="0" bIns="0" anchor="t">
            <a:spAutoFit/>
          </a:bodyPr>
          <a:lstStyle/>
          <a:p>
            <a:pPr algn="ctr">
              <a:lnSpc>
                <a:spcPct val="122000"/>
              </a:lnSpc>
            </a:pPr>
            <a:r>
              <a:rPr sz="850" b="0" i="0">
                <a:solidFill>
                  <a:srgbClr val="62798A"/>
                </a:solidFill>
                <a:latin typeface="Calibri"/>
              </a:rPr>
              <a:t>192.168.30.0/24</a:t>
            </a:r>
          </a:p>
        </p:txBody>
      </p:sp>
      <p:sp>
        <p:nvSpPr>
          <p:cNvPr id="42" name="Rounded Rectangle 41"/>
          <p:cNvSpPr/>
          <p:nvPr/>
        </p:nvSpPr>
        <p:spPr>
          <a:xfrm>
            <a:off x="685800" y="5961888"/>
            <a:ext cx="10817352" cy="658368"/>
          </a:xfrm>
          <a:prstGeom prst="roundRect">
            <a:avLst>
              <a:gd name="adj" fmla="val 12500"/>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5961888"/>
            <a:ext cx="3291840" cy="658368"/>
          </a:xfrm>
          <a:prstGeom prst="rect">
            <a:avLst/>
          </a:prstGeom>
          <a:noFill/>
        </p:spPr>
        <p:txBody>
          <a:bodyPr wrap="square" lIns="0" rIns="0" tIns="0" bIns="0" anchor="ctr">
            <a:spAutoFit/>
          </a:bodyPr>
          <a:lstStyle/>
          <a:p>
            <a:pPr algn="l">
              <a:lnSpc>
                <a:spcPct val="122000"/>
              </a:lnSpc>
            </a:pPr>
            <a:r>
              <a:rPr sz="1100" b="1" i="0">
                <a:solidFill>
                  <a:srgbClr val="00A896"/>
                </a:solidFill>
                <a:latin typeface="Calibri"/>
              </a:rPr>
              <a:t>OOB management  192.168.99.0/24</a:t>
            </a:r>
          </a:p>
        </p:txBody>
      </p:sp>
      <p:sp>
        <p:nvSpPr>
          <p:cNvPr id="44" name="TextBox 43"/>
          <p:cNvSpPr txBox="1"/>
          <p:nvPr/>
        </p:nvSpPr>
        <p:spPr>
          <a:xfrm>
            <a:off x="4434840" y="5961888"/>
            <a:ext cx="3840480" cy="658368"/>
          </a:xfrm>
          <a:prstGeom prst="rect">
            <a:avLst/>
          </a:prstGeom>
          <a:noFill/>
        </p:spPr>
        <p:txBody>
          <a:bodyPr wrap="square" lIns="0" rIns="0" tIns="0" bIns="0" anchor="ctr">
            <a:spAutoFit/>
          </a:bodyPr>
          <a:lstStyle/>
          <a:p>
            <a:pPr algn="l">
              <a:lnSpc>
                <a:spcPct val="122000"/>
              </a:lnSpc>
            </a:pPr>
            <a:r>
              <a:rPr sz="1100" b="0" i="0">
                <a:solidFill>
                  <a:srgbClr val="FFFFFF"/>
                </a:solidFill>
                <a:latin typeface="Calibri"/>
              </a:rPr>
              <a:t>VRF MGMT on every router</a:t>
            </a:r>
          </a:p>
        </p:txBody>
      </p:sp>
      <p:sp>
        <p:nvSpPr>
          <p:cNvPr id="45" name="Rounded Rectangle 44"/>
          <p:cNvSpPr/>
          <p:nvPr/>
        </p:nvSpPr>
        <p:spPr>
          <a:xfrm>
            <a:off x="8503920" y="6089904"/>
            <a:ext cx="2743200" cy="402336"/>
          </a:xfrm>
          <a:prstGeom prst="roundRect">
            <a:avLst>
              <a:gd name="adj" fmla="val 13636"/>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03920" y="6089904"/>
            <a:ext cx="2743200" cy="402336"/>
          </a:xfrm>
          <a:prstGeom prst="rect">
            <a:avLst/>
          </a:prstGeom>
          <a:noFill/>
        </p:spPr>
        <p:txBody>
          <a:bodyPr wrap="square" lIns="0" rIns="0" tIns="0" bIns="0" anchor="ctr">
            <a:spAutoFit/>
          </a:bodyPr>
          <a:lstStyle/>
          <a:p>
            <a:pPr algn="ctr">
              <a:lnSpc>
                <a:spcPct val="122000"/>
              </a:lnSpc>
            </a:pPr>
            <a:r>
              <a:rPr sz="1050" b="1" i="0">
                <a:solidFill>
                  <a:srgbClr val="FFFFFF"/>
                </a:solidFill>
                <a:latin typeface="Calibri"/>
              </a:rPr>
              <a:t>NMS  ·  192.168.99.10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How a router VM is started</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One shell script, one QEMU process, no hypervisor GUI and no orchestration layer</a:t>
            </a:r>
          </a:p>
        </p:txBody>
      </p:sp>
      <p:sp>
        <p:nvSpPr>
          <p:cNvPr id="5" name="Oval 4"/>
          <p:cNvSpPr/>
          <p:nvPr/>
        </p:nvSpPr>
        <p:spPr>
          <a:xfrm>
            <a:off x="713232" y="1609344"/>
            <a:ext cx="365760" cy="36576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298448" y="1572768"/>
            <a:ext cx="5120640" cy="274320"/>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Copy-on-write disk</a:t>
            </a:r>
          </a:p>
        </p:txBody>
      </p:sp>
      <p:sp>
        <p:nvSpPr>
          <p:cNvPr id="7" name="TextBox 6"/>
          <p:cNvSpPr txBox="1"/>
          <p:nvPr/>
        </p:nvSpPr>
        <p:spPr>
          <a:xfrm>
            <a:off x="1298448" y="1865376"/>
            <a:ext cx="5074920" cy="566928"/>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qemu-img creates a thin overlay backed by the shared 1.9 GB c8000v image. Each router gets a private disk; the golden image is never written to.</a:t>
            </a:r>
          </a:p>
        </p:txBody>
      </p:sp>
      <p:sp>
        <p:nvSpPr>
          <p:cNvPr id="8" name="Oval 7"/>
          <p:cNvSpPr/>
          <p:nvPr/>
        </p:nvSpPr>
        <p:spPr>
          <a:xfrm>
            <a:off x="713232" y="2542032"/>
            <a:ext cx="365760" cy="36576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98448" y="2505456"/>
            <a:ext cx="5120640" cy="274320"/>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Day-0 configuration ISO</a:t>
            </a:r>
          </a:p>
        </p:txBody>
      </p:sp>
      <p:sp>
        <p:nvSpPr>
          <p:cNvPr id="10" name="TextBox 9"/>
          <p:cNvSpPr txBox="1"/>
          <p:nvPr/>
        </p:nvSpPr>
        <p:spPr>
          <a:xfrm>
            <a:off x="1298448" y="2798064"/>
            <a:ext cx="5074920" cy="566928"/>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Hostname, credentials and management addressing are burned to a small ISO and attached as a CD-ROM. IOS-XE reads it only when NVRAM is empty — a genuinely fresh boot.</a:t>
            </a:r>
          </a:p>
        </p:txBody>
      </p:sp>
      <p:sp>
        <p:nvSpPr>
          <p:cNvPr id="11" name="Oval 10"/>
          <p:cNvSpPr/>
          <p:nvPr/>
        </p:nvSpPr>
        <p:spPr>
          <a:xfrm>
            <a:off x="713232" y="3474720"/>
            <a:ext cx="365760" cy="36576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1298448" y="3438144"/>
            <a:ext cx="5120640" cy="274320"/>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Network interfaces</a:t>
            </a:r>
          </a:p>
        </p:txBody>
      </p:sp>
      <p:sp>
        <p:nvSpPr>
          <p:cNvPr id="13" name="TextBox 12"/>
          <p:cNvSpPr txBox="1"/>
          <p:nvPr/>
        </p:nvSpPr>
        <p:spPr>
          <a:xfrm>
            <a:off x="1298448" y="3730752"/>
            <a:ext cx="5074920" cy="566928"/>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Four virtio NICs: a user-mode NAT link for the harness, plus WAN, LAN and OOB attached to shared multicast segments.</a:t>
            </a:r>
          </a:p>
        </p:txBody>
      </p:sp>
      <p:sp>
        <p:nvSpPr>
          <p:cNvPr id="14" name="Oval 13"/>
          <p:cNvSpPr/>
          <p:nvPr/>
        </p:nvSpPr>
        <p:spPr>
          <a:xfrm>
            <a:off x="713232" y="4407408"/>
            <a:ext cx="365760" cy="36576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5" name="TextBox 14"/>
          <p:cNvSpPr txBox="1"/>
          <p:nvPr/>
        </p:nvSpPr>
        <p:spPr>
          <a:xfrm>
            <a:off x="1298448" y="4370832"/>
            <a:ext cx="5120640" cy="274320"/>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Launch under KVM</a:t>
            </a:r>
          </a:p>
        </p:txBody>
      </p:sp>
      <p:sp>
        <p:nvSpPr>
          <p:cNvPr id="16" name="TextBox 15"/>
          <p:cNvSpPr txBox="1"/>
          <p:nvPr/>
        </p:nvSpPr>
        <p:spPr>
          <a:xfrm>
            <a:off x="1298448" y="4663440"/>
            <a:ext cx="5074920" cy="566928"/>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-machine pc,accel=kvm -cpu host -smp 4 -m 8192, daemonized with a PID file. Serial console is exposed over telnet for boot-time diagnosis.</a:t>
            </a:r>
          </a:p>
        </p:txBody>
      </p:sp>
      <p:sp>
        <p:nvSpPr>
          <p:cNvPr id="17" name="Oval 16"/>
          <p:cNvSpPr/>
          <p:nvPr/>
        </p:nvSpPr>
        <p:spPr>
          <a:xfrm>
            <a:off x="713232" y="5340096"/>
            <a:ext cx="365760" cy="365760"/>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8" name="TextBox 17"/>
          <p:cNvSpPr txBox="1"/>
          <p:nvPr/>
        </p:nvSpPr>
        <p:spPr>
          <a:xfrm>
            <a:off x="1298448" y="5303520"/>
            <a:ext cx="5120640" cy="274320"/>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Wait for readiness</a:t>
            </a:r>
          </a:p>
        </p:txBody>
      </p:sp>
      <p:sp>
        <p:nvSpPr>
          <p:cNvPr id="19" name="TextBox 18"/>
          <p:cNvSpPr txBox="1"/>
          <p:nvPr/>
        </p:nvSpPr>
        <p:spPr>
          <a:xfrm>
            <a:off x="1298448" y="5596128"/>
            <a:ext cx="5074920" cy="566928"/>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The harness polls the forwarded SSH port until the device answers and settles, rather than sleeping a fixed interval.</a:t>
            </a:r>
          </a:p>
        </p:txBody>
      </p:sp>
      <p:sp>
        <p:nvSpPr>
          <p:cNvPr id="20" name="Rounded Rectangle 19"/>
          <p:cNvSpPr/>
          <p:nvPr/>
        </p:nvSpPr>
        <p:spPr>
          <a:xfrm>
            <a:off x="6812280" y="1572768"/>
            <a:ext cx="4690872" cy="4224528"/>
          </a:xfrm>
          <a:prstGeom prst="roundRect">
            <a:avLst>
              <a:gd name="adj" fmla="val 1948"/>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86600" y="1792224"/>
            <a:ext cx="4206240" cy="256032"/>
          </a:xfrm>
          <a:prstGeom prst="rect">
            <a:avLst/>
          </a:prstGeom>
          <a:noFill/>
        </p:spPr>
        <p:txBody>
          <a:bodyPr wrap="square" lIns="0" rIns="0" tIns="0" bIns="0" anchor="t">
            <a:spAutoFit/>
          </a:bodyPr>
          <a:lstStyle/>
          <a:p>
            <a:pPr algn="l">
              <a:lnSpc>
                <a:spcPct val="122000"/>
              </a:lnSpc>
            </a:pPr>
            <a:r>
              <a:rPr sz="1150" b="1" i="0">
                <a:solidFill>
                  <a:srgbClr val="00A896"/>
                </a:solidFill>
                <a:latin typeface="Calibri"/>
              </a:rPr>
              <a:t>start-vm.sh  — the essential flags</a:t>
            </a:r>
          </a:p>
        </p:txBody>
      </p:sp>
      <p:sp>
        <p:nvSpPr>
          <p:cNvPr id="22" name="TextBox 21"/>
          <p:cNvSpPr txBox="1"/>
          <p:nvPr/>
        </p:nvSpPr>
        <p:spPr>
          <a:xfrm>
            <a:off x="7086600" y="2212848"/>
            <a:ext cx="4251960" cy="192024"/>
          </a:xfrm>
          <a:prstGeom prst="rect">
            <a:avLst/>
          </a:prstGeom>
          <a:noFill/>
        </p:spPr>
        <p:txBody>
          <a:bodyPr wrap="square" lIns="0" rIns="0" tIns="0" bIns="0" anchor="t">
            <a:spAutoFit/>
          </a:bodyPr>
          <a:lstStyle/>
          <a:p>
            <a:pPr algn="l">
              <a:lnSpc>
                <a:spcPct val="122000"/>
              </a:lnSpc>
            </a:pPr>
            <a:r>
              <a:rPr sz="950" b="0" i="0">
                <a:solidFill>
                  <a:srgbClr val="FFFFFF"/>
                </a:solidFill>
                <a:latin typeface="Courier New"/>
              </a:rPr>
              <a:t>qemu-system-x86_64 \</a:t>
            </a:r>
          </a:p>
        </p:txBody>
      </p:sp>
      <p:sp>
        <p:nvSpPr>
          <p:cNvPr id="23" name="TextBox 22"/>
          <p:cNvSpPr txBox="1"/>
          <p:nvPr/>
        </p:nvSpPr>
        <p:spPr>
          <a:xfrm>
            <a:off x="7086600" y="2400300"/>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-machine pc,accel=kvm \</a:t>
            </a:r>
          </a:p>
        </p:txBody>
      </p:sp>
      <p:sp>
        <p:nvSpPr>
          <p:cNvPr id="24" name="TextBox 23"/>
          <p:cNvSpPr txBox="1"/>
          <p:nvPr/>
        </p:nvSpPr>
        <p:spPr>
          <a:xfrm>
            <a:off x="7086600" y="2587752"/>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-cpu host -smp 4 -m 8192 \</a:t>
            </a:r>
          </a:p>
        </p:txBody>
      </p:sp>
      <p:sp>
        <p:nvSpPr>
          <p:cNvPr id="25" name="TextBox 24"/>
          <p:cNvSpPr txBox="1"/>
          <p:nvPr/>
        </p:nvSpPr>
        <p:spPr>
          <a:xfrm>
            <a:off x="7086600" y="2775204"/>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-drive if=virtio,file=run/R1.qcow2 \</a:t>
            </a:r>
          </a:p>
        </p:txBody>
      </p:sp>
      <p:sp>
        <p:nvSpPr>
          <p:cNvPr id="26" name="TextBox 25"/>
          <p:cNvSpPr txBox="1"/>
          <p:nvPr/>
        </p:nvSpPr>
        <p:spPr>
          <a:xfrm>
            <a:off x="7086600" y="2962656"/>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-drive if=ide,media=cdrom,\</a:t>
            </a:r>
          </a:p>
        </p:txBody>
      </p:sp>
      <p:sp>
        <p:nvSpPr>
          <p:cNvPr id="27" name="TextBox 26"/>
          <p:cNvSpPr txBox="1"/>
          <p:nvPr/>
        </p:nvSpPr>
        <p:spPr>
          <a:xfrm>
            <a:off x="7086600" y="3150108"/>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file=run/R1-day0.iso \</a:t>
            </a:r>
          </a:p>
        </p:txBody>
      </p:sp>
      <p:sp>
        <p:nvSpPr>
          <p:cNvPr id="28" name="TextBox 27"/>
          <p:cNvSpPr txBox="1"/>
          <p:nvPr/>
        </p:nvSpPr>
        <p:spPr>
          <a:xfrm>
            <a:off x="7086600" y="3525012"/>
            <a:ext cx="4251960" cy="192024"/>
          </a:xfrm>
          <a:prstGeom prst="rect">
            <a:avLst/>
          </a:prstGeom>
          <a:noFill/>
        </p:spPr>
        <p:txBody>
          <a:bodyPr wrap="square" lIns="0" rIns="0" tIns="0" bIns="0" anchor="t">
            <a:spAutoFit/>
          </a:bodyPr>
          <a:lstStyle/>
          <a:p>
            <a:pPr algn="l">
              <a:lnSpc>
                <a:spcPct val="122000"/>
              </a:lnSpc>
            </a:pPr>
            <a:r>
              <a:rPr sz="950" b="0" i="0">
                <a:solidFill>
                  <a:srgbClr val="62798A"/>
                </a:solidFill>
                <a:latin typeface="Courier New"/>
              </a:rPr>
              <a:t>  # harness reaches the device here</a:t>
            </a:r>
          </a:p>
        </p:txBody>
      </p:sp>
      <p:sp>
        <p:nvSpPr>
          <p:cNvPr id="29" name="TextBox 28"/>
          <p:cNvSpPr txBox="1"/>
          <p:nvPr/>
        </p:nvSpPr>
        <p:spPr>
          <a:xfrm>
            <a:off x="7086600" y="3712464"/>
            <a:ext cx="4251960" cy="192024"/>
          </a:xfrm>
          <a:prstGeom prst="rect">
            <a:avLst/>
          </a:prstGeom>
          <a:noFill/>
        </p:spPr>
        <p:txBody>
          <a:bodyPr wrap="square" lIns="0" rIns="0" tIns="0" bIns="0" anchor="t">
            <a:spAutoFit/>
          </a:bodyPr>
          <a:lstStyle/>
          <a:p>
            <a:pPr algn="l">
              <a:lnSpc>
                <a:spcPct val="122000"/>
              </a:lnSpc>
            </a:pPr>
            <a:r>
              <a:rPr sz="950" b="0" i="0">
                <a:solidFill>
                  <a:srgbClr val="00A896"/>
                </a:solidFill>
                <a:latin typeface="Courier New"/>
              </a:rPr>
              <a:t>  -netdev user,id=mgmt,\</a:t>
            </a:r>
          </a:p>
        </p:txBody>
      </p:sp>
      <p:sp>
        <p:nvSpPr>
          <p:cNvPr id="30" name="TextBox 29"/>
          <p:cNvSpPr txBox="1"/>
          <p:nvPr/>
        </p:nvSpPr>
        <p:spPr>
          <a:xfrm>
            <a:off x="7086600" y="3899916"/>
            <a:ext cx="4251960" cy="192024"/>
          </a:xfrm>
          <a:prstGeom prst="rect">
            <a:avLst/>
          </a:prstGeom>
          <a:noFill/>
        </p:spPr>
        <p:txBody>
          <a:bodyPr wrap="square" lIns="0" rIns="0" tIns="0" bIns="0" anchor="t">
            <a:spAutoFit/>
          </a:bodyPr>
          <a:lstStyle/>
          <a:p>
            <a:pPr algn="l">
              <a:lnSpc>
                <a:spcPct val="122000"/>
              </a:lnSpc>
            </a:pPr>
            <a:r>
              <a:rPr sz="950" b="0" i="0">
                <a:solidFill>
                  <a:srgbClr val="00A896"/>
                </a:solidFill>
                <a:latin typeface="Courier New"/>
              </a:rPr>
              <a:t>     hostfwd=tcp:127.0.0.1:2221-:22 \</a:t>
            </a:r>
          </a:p>
        </p:txBody>
      </p:sp>
      <p:sp>
        <p:nvSpPr>
          <p:cNvPr id="31" name="TextBox 30"/>
          <p:cNvSpPr txBox="1"/>
          <p:nvPr/>
        </p:nvSpPr>
        <p:spPr>
          <a:xfrm>
            <a:off x="7086600" y="4274820"/>
            <a:ext cx="4251960" cy="192024"/>
          </a:xfrm>
          <a:prstGeom prst="rect">
            <a:avLst/>
          </a:prstGeom>
          <a:noFill/>
        </p:spPr>
        <p:txBody>
          <a:bodyPr wrap="square" lIns="0" rIns="0" tIns="0" bIns="0" anchor="t">
            <a:spAutoFit/>
          </a:bodyPr>
          <a:lstStyle/>
          <a:p>
            <a:pPr algn="l">
              <a:lnSpc>
                <a:spcPct val="122000"/>
              </a:lnSpc>
            </a:pPr>
            <a:r>
              <a:rPr sz="950" b="0" i="0">
                <a:solidFill>
                  <a:srgbClr val="62798A"/>
                </a:solidFill>
                <a:latin typeface="Courier New"/>
              </a:rPr>
              <a:t>  # shared L2 segments between VMs</a:t>
            </a:r>
          </a:p>
        </p:txBody>
      </p:sp>
      <p:sp>
        <p:nvSpPr>
          <p:cNvPr id="32" name="TextBox 31"/>
          <p:cNvSpPr txBox="1"/>
          <p:nvPr/>
        </p:nvSpPr>
        <p:spPr>
          <a:xfrm>
            <a:off x="7086600" y="4462272"/>
            <a:ext cx="4251960" cy="192024"/>
          </a:xfrm>
          <a:prstGeom prst="rect">
            <a:avLst/>
          </a:prstGeom>
          <a:noFill/>
        </p:spPr>
        <p:txBody>
          <a:bodyPr wrap="square" lIns="0" rIns="0" tIns="0" bIns="0" anchor="t">
            <a:spAutoFit/>
          </a:bodyPr>
          <a:lstStyle/>
          <a:p>
            <a:pPr algn="l">
              <a:lnSpc>
                <a:spcPct val="122000"/>
              </a:lnSpc>
            </a:pPr>
            <a:r>
              <a:rPr sz="950" b="0" i="0">
                <a:solidFill>
                  <a:srgbClr val="00A896"/>
                </a:solidFill>
                <a:latin typeface="Courier New"/>
              </a:rPr>
              <a:t>  -netdev socket,id=wan,\</a:t>
            </a:r>
          </a:p>
        </p:txBody>
      </p:sp>
      <p:sp>
        <p:nvSpPr>
          <p:cNvPr id="33" name="TextBox 32"/>
          <p:cNvSpPr txBox="1"/>
          <p:nvPr/>
        </p:nvSpPr>
        <p:spPr>
          <a:xfrm>
            <a:off x="7086600" y="4649724"/>
            <a:ext cx="4251960" cy="192024"/>
          </a:xfrm>
          <a:prstGeom prst="rect">
            <a:avLst/>
          </a:prstGeom>
          <a:noFill/>
        </p:spPr>
        <p:txBody>
          <a:bodyPr wrap="square" lIns="0" rIns="0" tIns="0" bIns="0" anchor="t">
            <a:spAutoFit/>
          </a:bodyPr>
          <a:lstStyle/>
          <a:p>
            <a:pPr algn="l">
              <a:lnSpc>
                <a:spcPct val="122000"/>
              </a:lnSpc>
            </a:pPr>
            <a:r>
              <a:rPr sz="950" b="0" i="0">
                <a:solidFill>
                  <a:srgbClr val="00A896"/>
                </a:solidFill>
                <a:latin typeface="Courier New"/>
              </a:rPr>
              <a:t>     mcast=230.10.64.1:10064 \</a:t>
            </a:r>
          </a:p>
        </p:txBody>
      </p:sp>
      <p:sp>
        <p:nvSpPr>
          <p:cNvPr id="34" name="TextBox 33"/>
          <p:cNvSpPr txBox="1"/>
          <p:nvPr/>
        </p:nvSpPr>
        <p:spPr>
          <a:xfrm>
            <a:off x="7086600" y="4837176"/>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-netdev socket,id=lan,... \</a:t>
            </a:r>
          </a:p>
        </p:txBody>
      </p:sp>
      <p:sp>
        <p:nvSpPr>
          <p:cNvPr id="35" name="TextBox 34"/>
          <p:cNvSpPr txBox="1"/>
          <p:nvPr/>
        </p:nvSpPr>
        <p:spPr>
          <a:xfrm>
            <a:off x="7086600" y="5024628"/>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-netdev socket,id=oob,... \</a:t>
            </a:r>
          </a:p>
        </p:txBody>
      </p:sp>
      <p:sp>
        <p:nvSpPr>
          <p:cNvPr id="36" name="TextBox 35"/>
          <p:cNvSpPr txBox="1"/>
          <p:nvPr/>
        </p:nvSpPr>
        <p:spPr>
          <a:xfrm>
            <a:off x="7086600" y="5399532"/>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-serial telnet:127.0.0.1:5001 \</a:t>
            </a:r>
          </a:p>
        </p:txBody>
      </p:sp>
      <p:sp>
        <p:nvSpPr>
          <p:cNvPr id="37" name="TextBox 36"/>
          <p:cNvSpPr txBox="1"/>
          <p:nvPr/>
        </p:nvSpPr>
        <p:spPr>
          <a:xfrm>
            <a:off x="7086600" y="5586984"/>
            <a:ext cx="4251960" cy="192024"/>
          </a:xfrm>
          <a:prstGeom prst="rect">
            <a:avLst/>
          </a:prstGeom>
          <a:noFill/>
        </p:spPr>
        <p:txBody>
          <a:bodyPr wrap="square" lIns="0" rIns="0" tIns="0" bIns="0" anchor="t">
            <a:spAutoFit/>
          </a:bodyPr>
          <a:lstStyle/>
          <a:p>
            <a:pPr algn="l">
              <a:lnSpc>
                <a:spcPct val="122000"/>
              </a:lnSpc>
            </a:pPr>
            <a:r>
              <a:rPr sz="950" b="0" i="0">
                <a:solidFill>
                  <a:srgbClr val="9FB6C0"/>
                </a:solidFill>
                <a:latin typeface="Courier New"/>
              </a:rPr>
              <a:t>  -display none -daemonize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How the virtual machines are wired together</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There is no virtual switch — QEMU multicast sockets act as shared network segments</a:t>
            </a:r>
          </a:p>
        </p:txBody>
      </p:sp>
      <p:sp>
        <p:nvSpPr>
          <p:cNvPr id="5" name="Rounded Rectangle 4"/>
          <p:cNvSpPr/>
          <p:nvPr/>
        </p:nvSpPr>
        <p:spPr>
          <a:xfrm>
            <a:off x="685800" y="1591056"/>
            <a:ext cx="5532120" cy="2103120"/>
          </a:xfrm>
          <a:prstGeom prst="roundRect">
            <a:avLst>
              <a:gd name="adj" fmla="val 3913"/>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10512"/>
            <a:ext cx="5029200" cy="274320"/>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The problem</a:t>
            </a:r>
          </a:p>
        </p:txBody>
      </p:sp>
      <p:sp>
        <p:nvSpPr>
          <p:cNvPr id="7" name="TextBox 6"/>
          <p:cNvSpPr txBox="1"/>
          <p:nvPr/>
        </p:nvSpPr>
        <p:spPr>
          <a:xfrm>
            <a:off x="960120" y="2121408"/>
            <a:ext cx="4983480" cy="1417320"/>
          </a:xfrm>
          <a:prstGeom prst="rect">
            <a:avLst/>
          </a:prstGeom>
          <a:noFill/>
        </p:spPr>
        <p:txBody>
          <a:bodyPr wrap="square" lIns="0" rIns="0" tIns="0" bIns="0" anchor="t">
            <a:spAutoFit/>
          </a:bodyPr>
          <a:lstStyle/>
          <a:p>
            <a:pPr algn="l">
              <a:lnSpc>
                <a:spcPct val="134000"/>
              </a:lnSpc>
            </a:pPr>
            <a:r>
              <a:rPr sz="1200" b="0" i="0">
                <a:solidFill>
                  <a:srgbClr val="62798A"/>
                </a:solidFill>
                <a:latin typeface="Calibri"/>
              </a:rPr>
              <a:t>A point-to-point socket connects exactly two VMs, which is fine for a back-to-back link but wrong for a shared segment. Three routers on one WAN, or a router and its host on a LAN, need every frame to reach every member — including broadcast and multicast, which NHRP and routing protocols rely on.</a:t>
            </a:r>
          </a:p>
        </p:txBody>
      </p:sp>
      <p:sp>
        <p:nvSpPr>
          <p:cNvPr id="8" name="Rounded Rectangle 7"/>
          <p:cNvSpPr/>
          <p:nvPr/>
        </p:nvSpPr>
        <p:spPr>
          <a:xfrm>
            <a:off x="6428232" y="1591056"/>
            <a:ext cx="5074920" cy="2103120"/>
          </a:xfrm>
          <a:prstGeom prst="roundRect">
            <a:avLst>
              <a:gd name="adj" fmla="val 3913"/>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2552" y="1810512"/>
            <a:ext cx="4572000" cy="274320"/>
          </a:xfrm>
          <a:prstGeom prst="rect">
            <a:avLst/>
          </a:prstGeom>
          <a:noFill/>
        </p:spPr>
        <p:txBody>
          <a:bodyPr wrap="square" lIns="0" rIns="0" tIns="0" bIns="0" anchor="t">
            <a:spAutoFit/>
          </a:bodyPr>
          <a:lstStyle/>
          <a:p>
            <a:pPr algn="l">
              <a:lnSpc>
                <a:spcPct val="122000"/>
              </a:lnSpc>
            </a:pPr>
            <a:r>
              <a:rPr sz="1500" b="1" i="0">
                <a:solidFill>
                  <a:srgbClr val="FFFFFF"/>
                </a:solidFill>
                <a:latin typeface="Cambria"/>
              </a:rPr>
              <a:t>The mechanism</a:t>
            </a:r>
          </a:p>
        </p:txBody>
      </p:sp>
      <p:sp>
        <p:nvSpPr>
          <p:cNvPr id="10" name="TextBox 9"/>
          <p:cNvSpPr txBox="1"/>
          <p:nvPr/>
        </p:nvSpPr>
        <p:spPr>
          <a:xfrm>
            <a:off x="6702552" y="2121408"/>
            <a:ext cx="4526280" cy="1417320"/>
          </a:xfrm>
          <a:prstGeom prst="rect">
            <a:avLst/>
          </a:prstGeom>
          <a:noFill/>
        </p:spPr>
        <p:txBody>
          <a:bodyPr wrap="square" lIns="0" rIns="0" tIns="0" bIns="0" anchor="t">
            <a:spAutoFit/>
          </a:bodyPr>
          <a:lstStyle/>
          <a:p>
            <a:pPr algn="l">
              <a:lnSpc>
                <a:spcPct val="134000"/>
              </a:lnSpc>
            </a:pPr>
            <a:r>
              <a:rPr sz="1200" b="0" i="0">
                <a:solidFill>
                  <a:srgbClr val="A9BCC5"/>
                </a:solidFill>
                <a:latin typeface="Calibri"/>
              </a:rPr>
              <a:t>Each segment is a multicast group on the loopback interface. Every VM attached to that group sees every frame, exactly like a hub. Pinning to 127.0.0.1 keeps all lab traffic inside the host — nothing reaches the physical network.</a:t>
            </a:r>
          </a:p>
        </p:txBody>
      </p:sp>
      <p:sp>
        <p:nvSpPr>
          <p:cNvPr id="11" name="Rounded Rectangle 10"/>
          <p:cNvSpPr/>
          <p:nvPr/>
        </p:nvSpPr>
        <p:spPr>
          <a:xfrm>
            <a:off x="685800" y="3785615"/>
            <a:ext cx="10817352" cy="2487168"/>
          </a:xfrm>
          <a:prstGeom prst="roundRect">
            <a:avLst>
              <a:gd name="adj" fmla="val 3308"/>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 y="4023360"/>
            <a:ext cx="10268712" cy="292608"/>
          </a:xfrm>
          <a:prstGeom prst="roundRect">
            <a:avLst>
              <a:gd name="adj" fmla="val 15625"/>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023360"/>
            <a:ext cx="2286000" cy="292608"/>
          </a:xfrm>
          <a:prstGeom prst="rect">
            <a:avLst/>
          </a:prstGeom>
          <a:noFill/>
        </p:spPr>
        <p:txBody>
          <a:bodyPr wrap="square" lIns="0" rIns="0" tIns="0" bIns="0" anchor="ctr">
            <a:spAutoFit/>
          </a:bodyPr>
          <a:lstStyle/>
          <a:p>
            <a:pPr algn="l">
              <a:lnSpc>
                <a:spcPct val="122000"/>
              </a:lnSpc>
            </a:pPr>
            <a:r>
              <a:rPr sz="950" b="1" i="0">
                <a:solidFill>
                  <a:srgbClr val="62798A"/>
                </a:solidFill>
                <a:latin typeface="Calibri"/>
              </a:rPr>
              <a:t>SEGMENT</a:t>
            </a:r>
          </a:p>
        </p:txBody>
      </p:sp>
      <p:sp>
        <p:nvSpPr>
          <p:cNvPr id="14" name="TextBox 13"/>
          <p:cNvSpPr txBox="1"/>
          <p:nvPr/>
        </p:nvSpPr>
        <p:spPr>
          <a:xfrm>
            <a:off x="3520440" y="4023360"/>
            <a:ext cx="2194560" cy="292608"/>
          </a:xfrm>
          <a:prstGeom prst="rect">
            <a:avLst/>
          </a:prstGeom>
          <a:noFill/>
        </p:spPr>
        <p:txBody>
          <a:bodyPr wrap="square" lIns="0" rIns="0" tIns="0" bIns="0" anchor="ctr">
            <a:spAutoFit/>
          </a:bodyPr>
          <a:lstStyle/>
          <a:p>
            <a:pPr algn="l">
              <a:lnSpc>
                <a:spcPct val="122000"/>
              </a:lnSpc>
            </a:pPr>
            <a:r>
              <a:rPr sz="950" b="1" i="0">
                <a:solidFill>
                  <a:srgbClr val="62798A"/>
                </a:solidFill>
                <a:latin typeface="Calibri"/>
              </a:rPr>
              <a:t>SUBNET</a:t>
            </a:r>
          </a:p>
        </p:txBody>
      </p:sp>
      <p:sp>
        <p:nvSpPr>
          <p:cNvPr id="15" name="TextBox 14"/>
          <p:cNvSpPr txBox="1"/>
          <p:nvPr/>
        </p:nvSpPr>
        <p:spPr>
          <a:xfrm>
            <a:off x="5852160" y="4023360"/>
            <a:ext cx="2286000" cy="292608"/>
          </a:xfrm>
          <a:prstGeom prst="rect">
            <a:avLst/>
          </a:prstGeom>
          <a:noFill/>
        </p:spPr>
        <p:txBody>
          <a:bodyPr wrap="square" lIns="0" rIns="0" tIns="0" bIns="0" anchor="ctr">
            <a:spAutoFit/>
          </a:bodyPr>
          <a:lstStyle/>
          <a:p>
            <a:pPr algn="l">
              <a:lnSpc>
                <a:spcPct val="122000"/>
              </a:lnSpc>
            </a:pPr>
            <a:r>
              <a:rPr sz="950" b="1" i="0">
                <a:solidFill>
                  <a:srgbClr val="62798A"/>
                </a:solidFill>
                <a:latin typeface="Calibri"/>
              </a:rPr>
              <a:t>TRANSPORT</a:t>
            </a:r>
          </a:p>
        </p:txBody>
      </p:sp>
      <p:sp>
        <p:nvSpPr>
          <p:cNvPr id="16" name="TextBox 15"/>
          <p:cNvSpPr txBox="1"/>
          <p:nvPr/>
        </p:nvSpPr>
        <p:spPr>
          <a:xfrm>
            <a:off x="8321040" y="4023360"/>
            <a:ext cx="2834640" cy="292608"/>
          </a:xfrm>
          <a:prstGeom prst="rect">
            <a:avLst/>
          </a:prstGeom>
          <a:noFill/>
        </p:spPr>
        <p:txBody>
          <a:bodyPr wrap="square" lIns="0" rIns="0" tIns="0" bIns="0" anchor="ctr">
            <a:spAutoFit/>
          </a:bodyPr>
          <a:lstStyle/>
          <a:p>
            <a:pPr algn="l">
              <a:lnSpc>
                <a:spcPct val="122000"/>
              </a:lnSpc>
            </a:pPr>
            <a:r>
              <a:rPr sz="950" b="1" i="0">
                <a:solidFill>
                  <a:srgbClr val="62798A"/>
                </a:solidFill>
                <a:latin typeface="Calibri"/>
              </a:rPr>
              <a:t>MEMBERS</a:t>
            </a:r>
          </a:p>
        </p:txBody>
      </p:sp>
      <p:sp>
        <p:nvSpPr>
          <p:cNvPr id="17" name="TextBox 16"/>
          <p:cNvSpPr txBox="1"/>
          <p:nvPr/>
        </p:nvSpPr>
        <p:spPr>
          <a:xfrm>
            <a:off x="1097280" y="4407408"/>
            <a:ext cx="237744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WAN</a:t>
            </a:r>
          </a:p>
        </p:txBody>
      </p:sp>
      <p:sp>
        <p:nvSpPr>
          <p:cNvPr id="18" name="TextBox 17"/>
          <p:cNvSpPr txBox="1"/>
          <p:nvPr/>
        </p:nvSpPr>
        <p:spPr>
          <a:xfrm>
            <a:off x="3520440" y="4407408"/>
            <a:ext cx="228600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100.64.0.0/24</a:t>
            </a:r>
          </a:p>
        </p:txBody>
      </p:sp>
      <p:sp>
        <p:nvSpPr>
          <p:cNvPr id="19" name="TextBox 18"/>
          <p:cNvSpPr txBox="1"/>
          <p:nvPr/>
        </p:nvSpPr>
        <p:spPr>
          <a:xfrm>
            <a:off x="5852160" y="4407408"/>
            <a:ext cx="23774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mcast 230.10.64.1</a:t>
            </a:r>
          </a:p>
        </p:txBody>
      </p:sp>
      <p:sp>
        <p:nvSpPr>
          <p:cNvPr id="20" name="TextBox 19"/>
          <p:cNvSpPr txBox="1"/>
          <p:nvPr/>
        </p:nvSpPr>
        <p:spPr>
          <a:xfrm>
            <a:off x="8321040" y="4407408"/>
            <a:ext cx="28346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R1, R2, R3</a:t>
            </a:r>
          </a:p>
        </p:txBody>
      </p:sp>
      <p:cxnSp>
        <p:nvCxnSpPr>
          <p:cNvPr id="21" name="Connector 20"/>
          <p:cNvCxnSpPr/>
          <p:nvPr/>
        </p:nvCxnSpPr>
        <p:spPr>
          <a:xfrm>
            <a:off x="960120" y="4736592"/>
            <a:ext cx="1026871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97280" y="4773168"/>
            <a:ext cx="237744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LAN per site</a:t>
            </a:r>
          </a:p>
        </p:txBody>
      </p:sp>
      <p:sp>
        <p:nvSpPr>
          <p:cNvPr id="23" name="TextBox 22"/>
          <p:cNvSpPr txBox="1"/>
          <p:nvPr/>
        </p:nvSpPr>
        <p:spPr>
          <a:xfrm>
            <a:off x="3520440" y="4773168"/>
            <a:ext cx="228600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192.168.10/20/30.0/24</a:t>
            </a:r>
          </a:p>
        </p:txBody>
      </p:sp>
      <p:sp>
        <p:nvSpPr>
          <p:cNvPr id="24" name="TextBox 23"/>
          <p:cNvSpPr txBox="1"/>
          <p:nvPr/>
        </p:nvSpPr>
        <p:spPr>
          <a:xfrm>
            <a:off x="5852160" y="4773168"/>
            <a:ext cx="23774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mcast 230.10.x0.1</a:t>
            </a:r>
          </a:p>
        </p:txBody>
      </p:sp>
      <p:sp>
        <p:nvSpPr>
          <p:cNvPr id="25" name="TextBox 24"/>
          <p:cNvSpPr txBox="1"/>
          <p:nvPr/>
        </p:nvSpPr>
        <p:spPr>
          <a:xfrm>
            <a:off x="8321040" y="4773168"/>
            <a:ext cx="28346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one router + its host</a:t>
            </a:r>
          </a:p>
        </p:txBody>
      </p:sp>
      <p:cxnSp>
        <p:nvCxnSpPr>
          <p:cNvPr id="26" name="Connector 25"/>
          <p:cNvCxnSpPr/>
          <p:nvPr/>
        </p:nvCxnSpPr>
        <p:spPr>
          <a:xfrm>
            <a:off x="960120" y="5102352"/>
            <a:ext cx="1026871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97280" y="5138928"/>
            <a:ext cx="237744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OOB management</a:t>
            </a:r>
          </a:p>
        </p:txBody>
      </p:sp>
      <p:sp>
        <p:nvSpPr>
          <p:cNvPr id="28" name="TextBox 27"/>
          <p:cNvSpPr txBox="1"/>
          <p:nvPr/>
        </p:nvSpPr>
        <p:spPr>
          <a:xfrm>
            <a:off x="3520440" y="5138928"/>
            <a:ext cx="228600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192.168.99.0/24</a:t>
            </a:r>
          </a:p>
        </p:txBody>
      </p:sp>
      <p:sp>
        <p:nvSpPr>
          <p:cNvPr id="29" name="TextBox 28"/>
          <p:cNvSpPr txBox="1"/>
          <p:nvPr/>
        </p:nvSpPr>
        <p:spPr>
          <a:xfrm>
            <a:off x="5852160" y="5138928"/>
            <a:ext cx="23774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mcast 230.10.99.1</a:t>
            </a:r>
          </a:p>
        </p:txBody>
      </p:sp>
      <p:sp>
        <p:nvSpPr>
          <p:cNvPr id="30" name="TextBox 29"/>
          <p:cNvSpPr txBox="1"/>
          <p:nvPr/>
        </p:nvSpPr>
        <p:spPr>
          <a:xfrm>
            <a:off x="8321040" y="5138928"/>
            <a:ext cx="28346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R1, R2, R3, NMS</a:t>
            </a:r>
          </a:p>
        </p:txBody>
      </p:sp>
      <p:cxnSp>
        <p:nvCxnSpPr>
          <p:cNvPr id="31" name="Connector 30"/>
          <p:cNvCxnSpPr/>
          <p:nvPr/>
        </p:nvCxnSpPr>
        <p:spPr>
          <a:xfrm>
            <a:off x="960120" y="5468112"/>
            <a:ext cx="1026871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97280" y="5504688"/>
            <a:ext cx="2377440" cy="274320"/>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Harness access</a:t>
            </a:r>
          </a:p>
        </p:txBody>
      </p:sp>
      <p:sp>
        <p:nvSpPr>
          <p:cNvPr id="33" name="TextBox 32"/>
          <p:cNvSpPr txBox="1"/>
          <p:nvPr/>
        </p:nvSpPr>
        <p:spPr>
          <a:xfrm>
            <a:off x="3520440" y="5504688"/>
            <a:ext cx="228600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10.0.2.0/24</a:t>
            </a:r>
          </a:p>
        </p:txBody>
      </p:sp>
      <p:sp>
        <p:nvSpPr>
          <p:cNvPr id="34" name="TextBox 33"/>
          <p:cNvSpPr txBox="1"/>
          <p:nvPr/>
        </p:nvSpPr>
        <p:spPr>
          <a:xfrm>
            <a:off x="5852160" y="5504688"/>
            <a:ext cx="23774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ourier New"/>
              </a:rPr>
              <a:t>user-mode NAT, hostfwd</a:t>
            </a:r>
          </a:p>
        </p:txBody>
      </p:sp>
      <p:sp>
        <p:nvSpPr>
          <p:cNvPr id="35" name="TextBox 34"/>
          <p:cNvSpPr txBox="1"/>
          <p:nvPr/>
        </p:nvSpPr>
        <p:spPr>
          <a:xfrm>
            <a:off x="8321040" y="5504688"/>
            <a:ext cx="2834640" cy="274320"/>
          </a:xfrm>
          <a:prstGeom prst="rect">
            <a:avLst/>
          </a:prstGeom>
          <a:noFill/>
        </p:spPr>
        <p:txBody>
          <a:bodyPr wrap="square" lIns="0" rIns="0" tIns="0" bIns="0" anchor="ctr">
            <a:spAutoFit/>
          </a:bodyPr>
          <a:lstStyle/>
          <a:p>
            <a:pPr algn="l">
              <a:lnSpc>
                <a:spcPct val="122000"/>
              </a:lnSpc>
            </a:pPr>
            <a:r>
              <a:rPr sz="1100" b="0" i="0">
                <a:solidFill>
                  <a:srgbClr val="62798A"/>
                </a:solidFill>
                <a:latin typeface="Calibri"/>
              </a:rPr>
              <a:t>each VM, individually</a:t>
            </a:r>
          </a:p>
        </p:txBody>
      </p:sp>
      <p:cxnSp>
        <p:nvCxnSpPr>
          <p:cNvPr id="36" name="Connector 35"/>
          <p:cNvCxnSpPr/>
          <p:nvPr/>
        </p:nvCxnSpPr>
        <p:spPr>
          <a:xfrm>
            <a:off x="960120" y="5833872"/>
            <a:ext cx="10268712" cy="0"/>
          </a:xfrm>
          <a:prstGeom prst="line">
            <a:avLst/>
          </a:prstGeom>
          <a:ln w="9525">
            <a:solidFill>
              <a:srgbClr val="D3DBDE"/>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97280" y="5888736"/>
            <a:ext cx="10058400" cy="256032"/>
          </a:xfrm>
          <a:prstGeom prst="rect">
            <a:avLst/>
          </a:prstGeom>
          <a:noFill/>
        </p:spPr>
        <p:txBody>
          <a:bodyPr wrap="square" lIns="0" rIns="0" tIns="0" bIns="0" anchor="ctr">
            <a:spAutoFit/>
          </a:bodyPr>
          <a:lstStyle/>
          <a:p>
            <a:pPr algn="l">
              <a:lnSpc>
                <a:spcPct val="122000"/>
              </a:lnSpc>
            </a:pPr>
            <a:r>
              <a:rPr sz="1050" b="0" i="1">
                <a:solidFill>
                  <a:srgbClr val="62798A"/>
                </a:solidFill>
                <a:latin typeface="Calibri"/>
              </a:rPr>
              <a:t>SSH on 2221-2223 reaches the routers, 2231-2233 the hosts, 2241 the NMS — every device addressable from the harness.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From factory image to configured network</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Ten ordered phases, each idempotent and independently re-runnable</a:t>
            </a:r>
          </a:p>
        </p:txBody>
      </p:sp>
      <p:sp>
        <p:nvSpPr>
          <p:cNvPr id="5" name="Rounded Rectangle 4"/>
          <p:cNvSpPr/>
          <p:nvPr/>
        </p:nvSpPr>
        <p:spPr>
          <a:xfrm>
            <a:off x="685800" y="16459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1847088"/>
            <a:ext cx="310896" cy="310896"/>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7" name="TextBox 6"/>
          <p:cNvSpPr txBox="1"/>
          <p:nvPr/>
        </p:nvSpPr>
        <p:spPr>
          <a:xfrm>
            <a:off x="1289304" y="18653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license</a:t>
            </a:r>
          </a:p>
        </p:txBody>
      </p:sp>
      <p:sp>
        <p:nvSpPr>
          <p:cNvPr id="8" name="TextBox 7"/>
          <p:cNvSpPr txBox="1"/>
          <p:nvPr/>
        </p:nvSpPr>
        <p:spPr>
          <a:xfrm>
            <a:off x="886968" y="22494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Boot level + reload</a:t>
            </a:r>
          </a:p>
        </p:txBody>
      </p:sp>
      <p:cxnSp>
        <p:nvCxnSpPr>
          <p:cNvPr id="9" name="Connector 8"/>
          <p:cNvCxnSpPr/>
          <p:nvPr/>
        </p:nvCxnSpPr>
        <p:spPr>
          <a:xfrm>
            <a:off x="2679192" y="2203704"/>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98648" y="16459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118104" y="1847088"/>
            <a:ext cx="310896" cy="310896"/>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2" name="TextBox 11"/>
          <p:cNvSpPr txBox="1"/>
          <p:nvPr/>
        </p:nvSpPr>
        <p:spPr>
          <a:xfrm>
            <a:off x="3502152" y="18653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dmvpn</a:t>
            </a:r>
          </a:p>
        </p:txBody>
      </p:sp>
      <p:sp>
        <p:nvSpPr>
          <p:cNvPr id="13" name="TextBox 12"/>
          <p:cNvSpPr txBox="1"/>
          <p:nvPr/>
        </p:nvSpPr>
        <p:spPr>
          <a:xfrm>
            <a:off x="3099816" y="22494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mGRE, IPsec, NHRP</a:t>
            </a:r>
          </a:p>
        </p:txBody>
      </p:sp>
      <p:cxnSp>
        <p:nvCxnSpPr>
          <p:cNvPr id="14" name="Connector 13"/>
          <p:cNvCxnSpPr/>
          <p:nvPr/>
        </p:nvCxnSpPr>
        <p:spPr>
          <a:xfrm>
            <a:off x="4892040" y="2203704"/>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11496" y="16459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330952" y="1847088"/>
            <a:ext cx="310896" cy="310896"/>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7" name="TextBox 16"/>
          <p:cNvSpPr txBox="1"/>
          <p:nvPr/>
        </p:nvSpPr>
        <p:spPr>
          <a:xfrm>
            <a:off x="5715000" y="18653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bgp</a:t>
            </a:r>
          </a:p>
        </p:txBody>
      </p:sp>
      <p:sp>
        <p:nvSpPr>
          <p:cNvPr id="18" name="TextBox 17"/>
          <p:cNvSpPr txBox="1"/>
          <p:nvPr/>
        </p:nvSpPr>
        <p:spPr>
          <a:xfrm>
            <a:off x="5312664" y="22494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eBGP, MD5, BFD, policy</a:t>
            </a:r>
          </a:p>
        </p:txBody>
      </p:sp>
      <p:cxnSp>
        <p:nvCxnSpPr>
          <p:cNvPr id="19" name="Connector 18"/>
          <p:cNvCxnSpPr/>
          <p:nvPr/>
        </p:nvCxnSpPr>
        <p:spPr>
          <a:xfrm>
            <a:off x="7104888" y="2203704"/>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24344" y="16459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43800" y="1847088"/>
            <a:ext cx="310896" cy="310896"/>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22" name="TextBox 21"/>
          <p:cNvSpPr txBox="1"/>
          <p:nvPr/>
        </p:nvSpPr>
        <p:spPr>
          <a:xfrm>
            <a:off x="7927848" y="18653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nat</a:t>
            </a:r>
          </a:p>
        </p:txBody>
      </p:sp>
      <p:sp>
        <p:nvSpPr>
          <p:cNvPr id="23" name="TextBox 22"/>
          <p:cNvSpPr txBox="1"/>
          <p:nvPr/>
        </p:nvSpPr>
        <p:spPr>
          <a:xfrm>
            <a:off x="7525512" y="22494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Static + dynamic pools</a:t>
            </a:r>
          </a:p>
        </p:txBody>
      </p:sp>
      <p:cxnSp>
        <p:nvCxnSpPr>
          <p:cNvPr id="24" name="Connector 23"/>
          <p:cNvCxnSpPr/>
          <p:nvPr/>
        </p:nvCxnSpPr>
        <p:spPr>
          <a:xfrm>
            <a:off x="9317736" y="2203704"/>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37192" y="16459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6648" y="1847088"/>
            <a:ext cx="310896" cy="310896"/>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27" name="TextBox 26"/>
          <p:cNvSpPr txBox="1"/>
          <p:nvPr/>
        </p:nvSpPr>
        <p:spPr>
          <a:xfrm>
            <a:off x="10140696" y="18653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ntp</a:t>
            </a:r>
          </a:p>
        </p:txBody>
      </p:sp>
      <p:sp>
        <p:nvSpPr>
          <p:cNvPr id="28" name="TextBox 27"/>
          <p:cNvSpPr txBox="1"/>
          <p:nvPr/>
        </p:nvSpPr>
        <p:spPr>
          <a:xfrm>
            <a:off x="9738360" y="22494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Time sync via OOB</a:t>
            </a:r>
          </a:p>
        </p:txBody>
      </p:sp>
      <p:sp>
        <p:nvSpPr>
          <p:cNvPr id="29" name="Rounded Rectangle 28"/>
          <p:cNvSpPr/>
          <p:nvPr/>
        </p:nvSpPr>
        <p:spPr>
          <a:xfrm>
            <a:off x="685800" y="30175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05256" y="3218688"/>
            <a:ext cx="310896" cy="310896"/>
          </a:xfrm>
          <a:prstGeom prst="ellipse">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6</a:t>
            </a:r>
          </a:p>
        </p:txBody>
      </p:sp>
      <p:sp>
        <p:nvSpPr>
          <p:cNvPr id="31" name="TextBox 30"/>
          <p:cNvSpPr txBox="1"/>
          <p:nvPr/>
        </p:nvSpPr>
        <p:spPr>
          <a:xfrm>
            <a:off x="1289304" y="32369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syslog</a:t>
            </a:r>
          </a:p>
        </p:txBody>
      </p:sp>
      <p:sp>
        <p:nvSpPr>
          <p:cNvPr id="32" name="TextBox 31"/>
          <p:cNvSpPr txBox="1"/>
          <p:nvPr/>
        </p:nvSpPr>
        <p:spPr>
          <a:xfrm>
            <a:off x="886968" y="36210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Export to NMS</a:t>
            </a:r>
          </a:p>
        </p:txBody>
      </p:sp>
      <p:cxnSp>
        <p:nvCxnSpPr>
          <p:cNvPr id="33" name="Connector 32"/>
          <p:cNvCxnSpPr/>
          <p:nvPr/>
        </p:nvCxnSpPr>
        <p:spPr>
          <a:xfrm>
            <a:off x="2679192" y="3575303"/>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898648" y="30175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118104" y="3218688"/>
            <a:ext cx="310896" cy="310896"/>
          </a:xfrm>
          <a:prstGeom prst="ellipse">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7</a:t>
            </a:r>
          </a:p>
        </p:txBody>
      </p:sp>
      <p:sp>
        <p:nvSpPr>
          <p:cNvPr id="36" name="TextBox 35"/>
          <p:cNvSpPr txBox="1"/>
          <p:nvPr/>
        </p:nvSpPr>
        <p:spPr>
          <a:xfrm>
            <a:off x="3502152" y="32369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snmp</a:t>
            </a:r>
          </a:p>
        </p:txBody>
      </p:sp>
      <p:sp>
        <p:nvSpPr>
          <p:cNvPr id="37" name="TextBox 36"/>
          <p:cNvSpPr txBox="1"/>
          <p:nvPr/>
        </p:nvSpPr>
        <p:spPr>
          <a:xfrm>
            <a:off x="3099816" y="36210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v3 authPriv + traps</a:t>
            </a:r>
          </a:p>
        </p:txBody>
      </p:sp>
      <p:cxnSp>
        <p:nvCxnSpPr>
          <p:cNvPr id="38" name="Connector 37"/>
          <p:cNvCxnSpPr/>
          <p:nvPr/>
        </p:nvCxnSpPr>
        <p:spPr>
          <a:xfrm>
            <a:off x="4892040" y="3575303"/>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111496" y="30175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330952" y="3218688"/>
            <a:ext cx="310896" cy="310896"/>
          </a:xfrm>
          <a:prstGeom prst="ellipse">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8</a:t>
            </a:r>
          </a:p>
        </p:txBody>
      </p:sp>
      <p:sp>
        <p:nvSpPr>
          <p:cNvPr id="41" name="TextBox 40"/>
          <p:cNvSpPr txBox="1"/>
          <p:nvPr/>
        </p:nvSpPr>
        <p:spPr>
          <a:xfrm>
            <a:off x="5715000" y="32369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aaa</a:t>
            </a:r>
          </a:p>
        </p:txBody>
      </p:sp>
      <p:sp>
        <p:nvSpPr>
          <p:cNvPr id="42" name="TextBox 41"/>
          <p:cNvSpPr txBox="1"/>
          <p:nvPr/>
        </p:nvSpPr>
        <p:spPr>
          <a:xfrm>
            <a:off x="5312664" y="36210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TACACS+ authentication</a:t>
            </a:r>
          </a:p>
        </p:txBody>
      </p:sp>
      <p:cxnSp>
        <p:nvCxnSpPr>
          <p:cNvPr id="43" name="Connector 42"/>
          <p:cNvCxnSpPr/>
          <p:nvPr/>
        </p:nvCxnSpPr>
        <p:spPr>
          <a:xfrm>
            <a:off x="7104888" y="3575303"/>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7324344" y="30175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543800" y="3218688"/>
            <a:ext cx="310896" cy="310896"/>
          </a:xfrm>
          <a:prstGeom prst="ellipse">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9</a:t>
            </a:r>
          </a:p>
        </p:txBody>
      </p:sp>
      <p:sp>
        <p:nvSpPr>
          <p:cNvPr id="46" name="TextBox 45"/>
          <p:cNvSpPr txBox="1"/>
          <p:nvPr/>
        </p:nvSpPr>
        <p:spPr>
          <a:xfrm>
            <a:off x="7927848" y="32369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vty</a:t>
            </a:r>
          </a:p>
        </p:txBody>
      </p:sp>
      <p:sp>
        <p:nvSpPr>
          <p:cNvPr id="47" name="TextBox 46"/>
          <p:cNvSpPr txBox="1"/>
          <p:nvPr/>
        </p:nvSpPr>
        <p:spPr>
          <a:xfrm>
            <a:off x="7525512" y="36210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Line access control</a:t>
            </a:r>
          </a:p>
        </p:txBody>
      </p:sp>
      <p:cxnSp>
        <p:nvCxnSpPr>
          <p:cNvPr id="48" name="Connector 47"/>
          <p:cNvCxnSpPr/>
          <p:nvPr/>
        </p:nvCxnSpPr>
        <p:spPr>
          <a:xfrm>
            <a:off x="9317736" y="3575303"/>
            <a:ext cx="219456" cy="0"/>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537192" y="3017520"/>
            <a:ext cx="1993392" cy="1115568"/>
          </a:xfrm>
          <a:prstGeom prst="roundRect">
            <a:avLst>
              <a:gd name="adj" fmla="val 737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756648" y="3218688"/>
            <a:ext cx="310896" cy="310896"/>
          </a:xfrm>
          <a:prstGeom prst="ellipse">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10</a:t>
            </a:r>
          </a:p>
        </p:txBody>
      </p:sp>
      <p:sp>
        <p:nvSpPr>
          <p:cNvPr id="51" name="TextBox 50"/>
          <p:cNvSpPr txBox="1"/>
          <p:nvPr/>
        </p:nvSpPr>
        <p:spPr>
          <a:xfrm>
            <a:off x="10140696" y="3236976"/>
            <a:ext cx="128016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ourier New"/>
              </a:rPr>
              <a:t>banner</a:t>
            </a:r>
          </a:p>
        </p:txBody>
      </p:sp>
      <p:sp>
        <p:nvSpPr>
          <p:cNvPr id="52" name="TextBox 51"/>
          <p:cNvSpPr txBox="1"/>
          <p:nvPr/>
        </p:nvSpPr>
        <p:spPr>
          <a:xfrm>
            <a:off x="9738360" y="3621024"/>
            <a:ext cx="1645920" cy="402336"/>
          </a:xfrm>
          <a:prstGeom prst="rect">
            <a:avLst/>
          </a:prstGeom>
          <a:noFill/>
        </p:spPr>
        <p:txBody>
          <a:bodyPr wrap="square" lIns="0" rIns="0" tIns="0" bIns="0" anchor="t">
            <a:spAutoFit/>
          </a:bodyPr>
          <a:lstStyle/>
          <a:p>
            <a:pPr algn="l">
              <a:lnSpc>
                <a:spcPct val="124000"/>
              </a:lnSpc>
            </a:pPr>
            <a:r>
              <a:rPr sz="1000" b="0" i="0">
                <a:solidFill>
                  <a:srgbClr val="62798A"/>
                </a:solidFill>
                <a:latin typeface="Calibri"/>
              </a:rPr>
              <a:t>Pre-login notice</a:t>
            </a:r>
          </a:p>
        </p:txBody>
      </p:sp>
      <p:sp>
        <p:nvSpPr>
          <p:cNvPr id="53" name="Rounded Rectangle 52"/>
          <p:cNvSpPr/>
          <p:nvPr/>
        </p:nvSpPr>
        <p:spPr>
          <a:xfrm>
            <a:off x="685800" y="4443984"/>
            <a:ext cx="10817352" cy="841248"/>
          </a:xfrm>
          <a:prstGeom prst="roundRect">
            <a:avLst>
              <a:gd name="adj" fmla="val 9782"/>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60120" y="4663440"/>
            <a:ext cx="118872" cy="1188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61872" y="4590288"/>
            <a:ext cx="9966960"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Why the licence phase comes first</a:t>
            </a:r>
          </a:p>
        </p:txBody>
      </p:sp>
      <p:sp>
        <p:nvSpPr>
          <p:cNvPr id="56" name="TextBox 55"/>
          <p:cNvSpPr txBox="1"/>
          <p:nvPr/>
        </p:nvSpPr>
        <p:spPr>
          <a:xfrm>
            <a:off x="1261872" y="4864608"/>
            <a:ext cx="9966960" cy="256032"/>
          </a:xfrm>
          <a:prstGeom prst="rect">
            <a:avLst/>
          </a:prstGeom>
          <a:noFill/>
        </p:spPr>
        <p:txBody>
          <a:bodyPr wrap="square" lIns="0" rIns="0" tIns="0" bIns="0" anchor="t">
            <a:spAutoFit/>
          </a:bodyPr>
          <a:lstStyle/>
          <a:p>
            <a:pPr algn="l">
              <a:lnSpc>
                <a:spcPct val="122000"/>
              </a:lnSpc>
            </a:pPr>
            <a:r>
              <a:rPr sz="1150" b="0" i="0">
                <a:solidFill>
                  <a:srgbClr val="A9BCC5"/>
                </a:solidFill>
                <a:latin typeface="Calibri"/>
              </a:rPr>
              <a:t>The cryptographic CLI does not exist until the boot level is active, and the boot level only takes effect on reload.</a:t>
            </a:r>
          </a:p>
        </p:txBody>
      </p:sp>
      <p:sp>
        <p:nvSpPr>
          <p:cNvPr id="57" name="Rounded Rectangle 56"/>
          <p:cNvSpPr/>
          <p:nvPr/>
        </p:nvSpPr>
        <p:spPr>
          <a:xfrm>
            <a:off x="685800" y="5486400"/>
            <a:ext cx="10817352" cy="841248"/>
          </a:xfrm>
          <a:prstGeom prst="roundRect">
            <a:avLst>
              <a:gd name="adj" fmla="val 9782"/>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60120" y="5705856"/>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61872" y="5632704"/>
            <a:ext cx="9966960" cy="256032"/>
          </a:xfrm>
          <a:prstGeom prst="rect">
            <a:avLst/>
          </a:prstGeom>
          <a:noFill/>
        </p:spPr>
        <p:txBody>
          <a:bodyPr wrap="square" lIns="0" rIns="0" tIns="0" bIns="0" anchor="t">
            <a:spAutoFit/>
          </a:bodyPr>
          <a:lstStyle/>
          <a:p>
            <a:pPr algn="l">
              <a:lnSpc>
                <a:spcPct val="122000"/>
              </a:lnSpc>
            </a:pPr>
            <a:r>
              <a:rPr sz="1300" b="1" i="0">
                <a:solidFill>
                  <a:srgbClr val="16232B"/>
                </a:solidFill>
                <a:latin typeface="Cambria"/>
              </a:rPr>
              <a:t>Teardown and configuration are applied separately</a:t>
            </a:r>
          </a:p>
        </p:txBody>
      </p:sp>
      <p:sp>
        <p:nvSpPr>
          <p:cNvPr id="60" name="TextBox 59"/>
          <p:cNvSpPr txBox="1"/>
          <p:nvPr/>
        </p:nvSpPr>
        <p:spPr>
          <a:xfrm>
            <a:off x="1261872" y="5907024"/>
            <a:ext cx="9966960" cy="256032"/>
          </a:xfrm>
          <a:prstGeom prst="rect">
            <a:avLst/>
          </a:prstGeom>
          <a:noFill/>
        </p:spPr>
        <p:txBody>
          <a:bodyPr wrap="square" lIns="0" rIns="0" tIns="0" bIns="0" anchor="t">
            <a:spAutoFit/>
          </a:bodyPr>
          <a:lstStyle/>
          <a:p>
            <a:pPr algn="l">
              <a:lnSpc>
                <a:spcPct val="122000"/>
              </a:lnSpc>
            </a:pPr>
            <a:r>
              <a:rPr sz="1150" b="0" i="0">
                <a:solidFill>
                  <a:srgbClr val="62798A"/>
                </a:solidFill>
                <a:latin typeface="Calibri"/>
              </a:rPr>
              <a:t>Removing an object that is not there is a harmless no-op; a rejected configuration line is a fault worth stopping for.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What the network actually does</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Every feature below is configured by the harness and verified by it</a:t>
            </a:r>
          </a:p>
        </p:txBody>
      </p:sp>
      <p:sp>
        <p:nvSpPr>
          <p:cNvPr id="5" name="Rounded Rectangle 4"/>
          <p:cNvSpPr/>
          <p:nvPr/>
        </p:nvSpPr>
        <p:spPr>
          <a:xfrm>
            <a:off x="685800" y="1627632"/>
            <a:ext cx="3456432" cy="2011680"/>
          </a:xfrm>
          <a:prstGeom prst="roundRect">
            <a:avLst>
              <a:gd name="adj" fmla="val 4090"/>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901952"/>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1288" y="1810512"/>
            <a:ext cx="2679191"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Overlay &amp; encryption</a:t>
            </a:r>
          </a:p>
        </p:txBody>
      </p:sp>
      <p:sp>
        <p:nvSpPr>
          <p:cNvPr id="8" name="TextBox 7"/>
          <p:cNvSpPr txBox="1"/>
          <p:nvPr/>
        </p:nvSpPr>
        <p:spPr>
          <a:xfrm>
            <a:off x="960120" y="2194560"/>
            <a:ext cx="2907791" cy="1280160"/>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Multipoint GRE with IPsec protection, IKEv2 with a wildcard keyring, NHRP registration and Phase 3 shortcut switching between spokes.</a:t>
            </a:r>
          </a:p>
        </p:txBody>
      </p:sp>
      <p:sp>
        <p:nvSpPr>
          <p:cNvPr id="9" name="Rounded Rectangle 8"/>
          <p:cNvSpPr/>
          <p:nvPr/>
        </p:nvSpPr>
        <p:spPr>
          <a:xfrm>
            <a:off x="4370832" y="1627632"/>
            <a:ext cx="3456432" cy="2011680"/>
          </a:xfrm>
          <a:prstGeom prst="roundRect">
            <a:avLst>
              <a:gd name="adj" fmla="val 4090"/>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45152" y="1901952"/>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810512"/>
            <a:ext cx="2679191"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Routing &amp; policy</a:t>
            </a:r>
          </a:p>
        </p:txBody>
      </p:sp>
      <p:sp>
        <p:nvSpPr>
          <p:cNvPr id="12" name="TextBox 11"/>
          <p:cNvSpPr txBox="1"/>
          <p:nvPr/>
        </p:nvSpPr>
        <p:spPr>
          <a:xfrm>
            <a:off x="4645152" y="2194560"/>
            <a:ext cx="2907791" cy="1280160"/>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eBGP across the tunnel with MD5 authentication and BFD. Outbound prefix-lists, community tagging, inbound community and AS-path filtering, maximum-prefix limits.</a:t>
            </a:r>
          </a:p>
        </p:txBody>
      </p:sp>
      <p:sp>
        <p:nvSpPr>
          <p:cNvPr id="13" name="Rounded Rectangle 12"/>
          <p:cNvSpPr/>
          <p:nvPr/>
        </p:nvSpPr>
        <p:spPr>
          <a:xfrm>
            <a:off x="8055864" y="1627632"/>
            <a:ext cx="3456432" cy="2011680"/>
          </a:xfrm>
          <a:prstGeom prst="roundRect">
            <a:avLst>
              <a:gd name="adj" fmla="val 4090"/>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30184" y="1901952"/>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1352" y="1810512"/>
            <a:ext cx="2679191"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Address translation</a:t>
            </a:r>
          </a:p>
        </p:txBody>
      </p:sp>
      <p:sp>
        <p:nvSpPr>
          <p:cNvPr id="16" name="TextBox 15"/>
          <p:cNvSpPr txBox="1"/>
          <p:nvPr/>
        </p:nvSpPr>
        <p:spPr>
          <a:xfrm>
            <a:off x="8330184" y="2194560"/>
            <a:ext cx="2907791" cy="1280160"/>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Static one-to-one mappings and a dynamic pool with overload, including pool exhaustion behaviour under deliberate pressure.</a:t>
            </a:r>
          </a:p>
        </p:txBody>
      </p:sp>
      <p:sp>
        <p:nvSpPr>
          <p:cNvPr id="17" name="Rounded Rectangle 16"/>
          <p:cNvSpPr/>
          <p:nvPr/>
        </p:nvSpPr>
        <p:spPr>
          <a:xfrm>
            <a:off x="685800" y="3840480"/>
            <a:ext cx="3456432" cy="2011680"/>
          </a:xfrm>
          <a:prstGeom prst="roundRect">
            <a:avLst>
              <a:gd name="adj" fmla="val 4090"/>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0120" y="4114800"/>
            <a:ext cx="100584" cy="100584"/>
          </a:xfrm>
          <a:prstGeom prst="roundRect">
            <a:avLst>
              <a:gd name="adj" fmla="val 50000"/>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1288" y="4023360"/>
            <a:ext cx="2679191"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Management plane</a:t>
            </a:r>
          </a:p>
        </p:txBody>
      </p:sp>
      <p:sp>
        <p:nvSpPr>
          <p:cNvPr id="20" name="TextBox 19"/>
          <p:cNvSpPr txBox="1"/>
          <p:nvPr/>
        </p:nvSpPr>
        <p:spPr>
          <a:xfrm>
            <a:off x="960120" y="4407408"/>
            <a:ext cx="2907791" cy="1280160"/>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A dedicated out-of-band network in VRF MGMT carrying NTP, syslog and SNMPv3 authPriv polling and traps to the NMS.</a:t>
            </a:r>
          </a:p>
        </p:txBody>
      </p:sp>
      <p:sp>
        <p:nvSpPr>
          <p:cNvPr id="21" name="Rounded Rectangle 20"/>
          <p:cNvSpPr/>
          <p:nvPr/>
        </p:nvSpPr>
        <p:spPr>
          <a:xfrm>
            <a:off x="4370832" y="3840480"/>
            <a:ext cx="3456432" cy="2011680"/>
          </a:xfrm>
          <a:prstGeom prst="roundRect">
            <a:avLst>
              <a:gd name="adj" fmla="val 4090"/>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45152" y="4114800"/>
            <a:ext cx="100584" cy="100584"/>
          </a:xfrm>
          <a:prstGeom prst="roundRect">
            <a:avLst>
              <a:gd name="adj" fmla="val 50000"/>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023360"/>
            <a:ext cx="2679191"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Identity &amp; access</a:t>
            </a:r>
          </a:p>
        </p:txBody>
      </p:sp>
      <p:sp>
        <p:nvSpPr>
          <p:cNvPr id="24" name="TextBox 23"/>
          <p:cNvSpPr txBox="1"/>
          <p:nvPr/>
        </p:nvSpPr>
        <p:spPr>
          <a:xfrm>
            <a:off x="4645152" y="4407408"/>
            <a:ext cx="2907791" cy="1280160"/>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TACACS+ authentication against a real server, per-line access control, and a pre-login banner verified on every device.</a:t>
            </a:r>
          </a:p>
        </p:txBody>
      </p:sp>
      <p:sp>
        <p:nvSpPr>
          <p:cNvPr id="25" name="Rounded Rectangle 24"/>
          <p:cNvSpPr/>
          <p:nvPr/>
        </p:nvSpPr>
        <p:spPr>
          <a:xfrm>
            <a:off x="8055864" y="3840480"/>
            <a:ext cx="3456432" cy="2011680"/>
          </a:xfrm>
          <a:prstGeom prst="roundRect">
            <a:avLst>
              <a:gd name="adj" fmla="val 4090"/>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330184" y="4114800"/>
            <a:ext cx="100584" cy="100584"/>
          </a:xfrm>
          <a:prstGeom prst="roundRect">
            <a:avLst>
              <a:gd name="adj" fmla="val 50000"/>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4023360"/>
            <a:ext cx="2679191"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Failure behaviour</a:t>
            </a:r>
          </a:p>
        </p:txBody>
      </p:sp>
      <p:sp>
        <p:nvSpPr>
          <p:cNvPr id="28" name="TextBox 27"/>
          <p:cNvSpPr txBox="1"/>
          <p:nvPr/>
        </p:nvSpPr>
        <p:spPr>
          <a:xfrm>
            <a:off x="8330184" y="4407408"/>
            <a:ext cx="2907791" cy="1280160"/>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Hub loss, underlay partition, key mismatches, MTU blackholes and cache expiry — what the design does when something breaks.</a:t>
            </a:r>
          </a:p>
        </p:txBody>
      </p:sp>
      <p:sp>
        <p:nvSpPr>
          <p:cNvPr id="29" name="TextBox 28"/>
          <p:cNvSpPr txBox="1"/>
          <p:nvPr/>
        </p:nvSpPr>
        <p:spPr>
          <a:xfrm>
            <a:off x="685800" y="6144768"/>
            <a:ext cx="10817352" cy="274320"/>
          </a:xfrm>
          <a:prstGeom prst="rect">
            <a:avLst/>
          </a:prstGeom>
          <a:noFill/>
        </p:spPr>
        <p:txBody>
          <a:bodyPr wrap="square" lIns="0" rIns="0" tIns="0" bIns="0" anchor="t">
            <a:spAutoFit/>
          </a:bodyPr>
          <a:lstStyle/>
          <a:p>
            <a:pPr algn="l">
              <a:lnSpc>
                <a:spcPct val="122000"/>
              </a:lnSpc>
            </a:pPr>
            <a:r>
              <a:rPr sz="1150" b="0" i="1">
                <a:solidFill>
                  <a:srgbClr val="62798A"/>
                </a:solidFill>
                <a:latin typeface="Calibri"/>
              </a:rPr>
              <a:t>The management, identity and failure work is what turns a connectivity demo into something an operations team can rely 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How a test run works</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One command, driven entirely over SSH — the same interface an engineer would use</a:t>
            </a:r>
          </a:p>
        </p:txBody>
      </p:sp>
      <p:sp>
        <p:nvSpPr>
          <p:cNvPr id="5" name="Rounded Rectangle 4"/>
          <p:cNvSpPr/>
          <p:nvPr/>
        </p:nvSpPr>
        <p:spPr>
          <a:xfrm>
            <a:off x="685800" y="1645920"/>
            <a:ext cx="6903720" cy="804672"/>
          </a:xfrm>
          <a:prstGeom prst="roundRect">
            <a:avLst>
              <a:gd name="adj" fmla="val 10227"/>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1874519"/>
            <a:ext cx="347472" cy="3474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6232B"/>
                </a:solidFill>
                <a:latin typeface="Calibri"/>
              </a:rPr>
              <a:t>1</a:t>
            </a:r>
          </a:p>
        </p:txBody>
      </p:sp>
      <p:sp>
        <p:nvSpPr>
          <p:cNvPr id="7" name="TextBox 6"/>
          <p:cNvSpPr txBox="1"/>
          <p:nvPr/>
        </p:nvSpPr>
        <p:spPr>
          <a:xfrm>
            <a:off x="1463040" y="1764792"/>
            <a:ext cx="2286000" cy="274320"/>
          </a:xfrm>
          <a:prstGeom prst="rect">
            <a:avLst/>
          </a:prstGeom>
          <a:noFill/>
        </p:spPr>
        <p:txBody>
          <a:bodyPr wrap="square" lIns="0" rIns="0" tIns="0" bIns="0" anchor="t">
            <a:spAutoFit/>
          </a:bodyPr>
          <a:lstStyle/>
          <a:p>
            <a:pPr algn="l">
              <a:lnSpc>
                <a:spcPct val="122000"/>
              </a:lnSpc>
            </a:pPr>
            <a:r>
              <a:rPr sz="1350" b="1" i="0">
                <a:solidFill>
                  <a:srgbClr val="FFFFFF"/>
                </a:solidFill>
                <a:latin typeface="Courier New"/>
              </a:rPr>
              <a:t>./run-tests.sh</a:t>
            </a:r>
          </a:p>
        </p:txBody>
      </p:sp>
      <p:sp>
        <p:nvSpPr>
          <p:cNvPr id="8" name="TextBox 7"/>
          <p:cNvSpPr txBox="1"/>
          <p:nvPr/>
        </p:nvSpPr>
        <p:spPr>
          <a:xfrm>
            <a:off x="3794760" y="1746504"/>
            <a:ext cx="3611880" cy="621792"/>
          </a:xfrm>
          <a:prstGeom prst="rect">
            <a:avLst/>
          </a:prstGeom>
          <a:noFill/>
        </p:spPr>
        <p:txBody>
          <a:bodyPr wrap="square" lIns="0" rIns="0" tIns="0" bIns="0" anchor="t">
            <a:spAutoFit/>
          </a:bodyPr>
          <a:lstStyle/>
          <a:p>
            <a:pPr algn="l">
              <a:lnSpc>
                <a:spcPct val="126000"/>
              </a:lnSpc>
            </a:pPr>
            <a:r>
              <a:rPr sz="1050" b="0" i="0">
                <a:solidFill>
                  <a:srgbClr val="A9BCC5"/>
                </a:solidFill>
                <a:latin typeface="Calibri"/>
              </a:rPr>
              <a:t>Loads lab.env and passes every address, port and credential to the test runner as a variable.</a:t>
            </a:r>
          </a:p>
        </p:txBody>
      </p:sp>
      <p:cxnSp>
        <p:nvCxnSpPr>
          <p:cNvPr id="9" name="Connector 8"/>
          <p:cNvCxnSpPr/>
          <p:nvPr/>
        </p:nvCxnSpPr>
        <p:spPr>
          <a:xfrm>
            <a:off x="1133856" y="2450592"/>
            <a:ext cx="0" cy="128016"/>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85800" y="2578608"/>
            <a:ext cx="6903720" cy="804672"/>
          </a:xfrm>
          <a:prstGeom prst="roundRect">
            <a:avLst>
              <a:gd name="adj" fmla="val 1022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2807208"/>
            <a:ext cx="347472" cy="3474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463040" y="2697480"/>
            <a:ext cx="228600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ambria"/>
              </a:rPr>
              <a:t>Robot Framework</a:t>
            </a:r>
          </a:p>
        </p:txBody>
      </p:sp>
      <p:sp>
        <p:nvSpPr>
          <p:cNvPr id="13" name="TextBox 12"/>
          <p:cNvSpPr txBox="1"/>
          <p:nvPr/>
        </p:nvSpPr>
        <p:spPr>
          <a:xfrm>
            <a:off x="3794760" y="2679192"/>
            <a:ext cx="3611880" cy="621792"/>
          </a:xfrm>
          <a:prstGeom prst="rect">
            <a:avLst/>
          </a:prstGeom>
          <a:noFill/>
        </p:spPr>
        <p:txBody>
          <a:bodyPr wrap="square" lIns="0" rIns="0" tIns="0" bIns="0" anchor="t">
            <a:spAutoFit/>
          </a:bodyPr>
          <a:lstStyle/>
          <a:p>
            <a:pPr algn="l">
              <a:lnSpc>
                <a:spcPct val="126000"/>
              </a:lnSpc>
            </a:pPr>
            <a:r>
              <a:rPr sz="1050" b="0" i="0">
                <a:solidFill>
                  <a:srgbClr val="62798A"/>
                </a:solidFill>
                <a:latin typeface="Calibri"/>
              </a:rPr>
              <a:t>Executes 23 suites in order. Shared keywords live in a resource file; Python libraries handle SNMP, NETCONF and NAT.</a:t>
            </a:r>
          </a:p>
        </p:txBody>
      </p:sp>
      <p:cxnSp>
        <p:nvCxnSpPr>
          <p:cNvPr id="14" name="Connector 13"/>
          <p:cNvCxnSpPr/>
          <p:nvPr/>
        </p:nvCxnSpPr>
        <p:spPr>
          <a:xfrm>
            <a:off x="1133856" y="3383280"/>
            <a:ext cx="0" cy="128016"/>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5800" y="3511296"/>
            <a:ext cx="6903720" cy="804672"/>
          </a:xfrm>
          <a:prstGeom prst="roundRect">
            <a:avLst>
              <a:gd name="adj" fmla="val 1022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0120" y="3739896"/>
            <a:ext cx="347472" cy="3474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7" name="TextBox 16"/>
          <p:cNvSpPr txBox="1"/>
          <p:nvPr/>
        </p:nvSpPr>
        <p:spPr>
          <a:xfrm>
            <a:off x="1463040" y="3630168"/>
            <a:ext cx="228600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ambria"/>
              </a:rPr>
              <a:t>SSH driver</a:t>
            </a:r>
          </a:p>
        </p:txBody>
      </p:sp>
      <p:sp>
        <p:nvSpPr>
          <p:cNvPr id="18" name="TextBox 17"/>
          <p:cNvSpPr txBox="1"/>
          <p:nvPr/>
        </p:nvSpPr>
        <p:spPr>
          <a:xfrm>
            <a:off x="3794760" y="3611880"/>
            <a:ext cx="3611880" cy="621792"/>
          </a:xfrm>
          <a:prstGeom prst="rect">
            <a:avLst/>
          </a:prstGeom>
          <a:noFill/>
        </p:spPr>
        <p:txBody>
          <a:bodyPr wrap="square" lIns="0" rIns="0" tIns="0" bIns="0" anchor="t">
            <a:spAutoFit/>
          </a:bodyPr>
          <a:lstStyle/>
          <a:p>
            <a:pPr algn="l">
              <a:lnSpc>
                <a:spcPct val="126000"/>
              </a:lnSpc>
            </a:pPr>
            <a:r>
              <a:rPr sz="1050" b="0" i="0">
                <a:solidFill>
                  <a:srgbClr val="62798A"/>
                </a:solidFill>
                <a:latin typeface="Calibri"/>
              </a:rPr>
              <a:t>A reload-safe client opens a session per device, detects the prompt, and distinguishes a real refusal from a benign notice.</a:t>
            </a:r>
          </a:p>
        </p:txBody>
      </p:sp>
      <p:cxnSp>
        <p:nvCxnSpPr>
          <p:cNvPr id="19" name="Connector 18"/>
          <p:cNvCxnSpPr/>
          <p:nvPr/>
        </p:nvCxnSpPr>
        <p:spPr>
          <a:xfrm>
            <a:off x="1133856" y="4315968"/>
            <a:ext cx="0" cy="128016"/>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85800" y="4443984"/>
            <a:ext cx="6903720" cy="804672"/>
          </a:xfrm>
          <a:prstGeom prst="roundRect">
            <a:avLst>
              <a:gd name="adj" fmla="val 1022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0120" y="4672584"/>
            <a:ext cx="347472" cy="3474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22" name="TextBox 21"/>
          <p:cNvSpPr txBox="1"/>
          <p:nvPr/>
        </p:nvSpPr>
        <p:spPr>
          <a:xfrm>
            <a:off x="1463040" y="4562856"/>
            <a:ext cx="228600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ambria"/>
              </a:rPr>
              <a:t>Devices &amp; NMS</a:t>
            </a:r>
          </a:p>
        </p:txBody>
      </p:sp>
      <p:sp>
        <p:nvSpPr>
          <p:cNvPr id="23" name="TextBox 22"/>
          <p:cNvSpPr txBox="1"/>
          <p:nvPr/>
        </p:nvSpPr>
        <p:spPr>
          <a:xfrm>
            <a:off x="3794760" y="4544568"/>
            <a:ext cx="3611880" cy="621792"/>
          </a:xfrm>
          <a:prstGeom prst="rect">
            <a:avLst/>
          </a:prstGeom>
          <a:noFill/>
        </p:spPr>
        <p:txBody>
          <a:bodyPr wrap="square" lIns="0" rIns="0" tIns="0" bIns="0" anchor="t">
            <a:spAutoFit/>
          </a:bodyPr>
          <a:lstStyle/>
          <a:p>
            <a:pPr algn="l">
              <a:lnSpc>
                <a:spcPct val="126000"/>
              </a:lnSpc>
            </a:pPr>
            <a:r>
              <a:rPr sz="1050" b="0" i="0">
                <a:solidFill>
                  <a:srgbClr val="62798A"/>
                </a:solidFill>
                <a:latin typeface="Calibri"/>
              </a:rPr>
              <a:t>Commands run on the live routers, hosts and management server. Nothing is mocked or replayed.</a:t>
            </a:r>
          </a:p>
        </p:txBody>
      </p:sp>
      <p:cxnSp>
        <p:nvCxnSpPr>
          <p:cNvPr id="24" name="Connector 23"/>
          <p:cNvCxnSpPr/>
          <p:nvPr/>
        </p:nvCxnSpPr>
        <p:spPr>
          <a:xfrm>
            <a:off x="1133856" y="5248656"/>
            <a:ext cx="0" cy="128016"/>
          </a:xfrm>
          <a:prstGeom prst="line">
            <a:avLst/>
          </a:prstGeom>
          <a:ln w="15875">
            <a:solidFill>
              <a:srgbClr val="62798A"/>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5800" y="5376672"/>
            <a:ext cx="6903720" cy="804672"/>
          </a:xfrm>
          <a:prstGeom prst="roundRect">
            <a:avLst>
              <a:gd name="adj" fmla="val 10227"/>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0120" y="5605272"/>
            <a:ext cx="347472" cy="3474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27" name="TextBox 26"/>
          <p:cNvSpPr txBox="1"/>
          <p:nvPr/>
        </p:nvSpPr>
        <p:spPr>
          <a:xfrm>
            <a:off x="1463040" y="5495544"/>
            <a:ext cx="2286000" cy="274320"/>
          </a:xfrm>
          <a:prstGeom prst="rect">
            <a:avLst/>
          </a:prstGeom>
          <a:noFill/>
        </p:spPr>
        <p:txBody>
          <a:bodyPr wrap="square" lIns="0" rIns="0" tIns="0" bIns="0" anchor="t">
            <a:spAutoFit/>
          </a:bodyPr>
          <a:lstStyle/>
          <a:p>
            <a:pPr algn="l">
              <a:lnSpc>
                <a:spcPct val="122000"/>
              </a:lnSpc>
            </a:pPr>
            <a:r>
              <a:rPr sz="1350" b="1" i="0">
                <a:solidFill>
                  <a:srgbClr val="16232B"/>
                </a:solidFill>
                <a:latin typeface="Cambria"/>
              </a:rPr>
              <a:t>Archive &amp; report</a:t>
            </a:r>
          </a:p>
        </p:txBody>
      </p:sp>
      <p:sp>
        <p:nvSpPr>
          <p:cNvPr id="28" name="TextBox 27"/>
          <p:cNvSpPr txBox="1"/>
          <p:nvPr/>
        </p:nvSpPr>
        <p:spPr>
          <a:xfrm>
            <a:off x="3794760" y="5477256"/>
            <a:ext cx="3611880" cy="621792"/>
          </a:xfrm>
          <a:prstGeom prst="rect">
            <a:avLst/>
          </a:prstGeom>
          <a:noFill/>
        </p:spPr>
        <p:txBody>
          <a:bodyPr wrap="square" lIns="0" rIns="0" tIns="0" bIns="0" anchor="t">
            <a:spAutoFit/>
          </a:bodyPr>
          <a:lstStyle/>
          <a:p>
            <a:pPr algn="l">
              <a:lnSpc>
                <a:spcPct val="126000"/>
              </a:lnSpc>
            </a:pPr>
            <a:r>
              <a:rPr sz="1050" b="0" i="0">
                <a:solidFill>
                  <a:srgbClr val="62798A"/>
                </a:solidFill>
                <a:latin typeface="Calibri"/>
              </a:rPr>
              <a:t>State captures, logs, a numbered evidence PDF and the topology diagram are written to a timestamped folder.</a:t>
            </a:r>
          </a:p>
        </p:txBody>
      </p:sp>
      <p:sp>
        <p:nvSpPr>
          <p:cNvPr id="29" name="Rounded Rectangle 28"/>
          <p:cNvSpPr/>
          <p:nvPr/>
        </p:nvSpPr>
        <p:spPr>
          <a:xfrm>
            <a:off x="7882127" y="1645920"/>
            <a:ext cx="3621024" cy="3986784"/>
          </a:xfrm>
          <a:prstGeom prst="roundRect">
            <a:avLst>
              <a:gd name="adj" fmla="val 2272"/>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56448" y="1865376"/>
            <a:ext cx="3108960" cy="274320"/>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Design rules</a:t>
            </a:r>
          </a:p>
        </p:txBody>
      </p:sp>
      <p:sp>
        <p:nvSpPr>
          <p:cNvPr id="31" name="TextBox 30"/>
          <p:cNvSpPr txBox="1"/>
          <p:nvPr/>
        </p:nvSpPr>
        <p:spPr>
          <a:xfrm>
            <a:off x="8156448" y="2212848"/>
            <a:ext cx="3127248" cy="3291840"/>
          </a:xfrm>
          <a:prstGeom prst="rect">
            <a:avLst/>
          </a:prstGeom>
          <a:noFill/>
        </p:spPr>
        <p:txBody>
          <a:bodyPr wrap="square" lIns="0" rIns="0" tIns="0" bIns="0">
            <a:spAutoFit/>
          </a:bodyPr>
          <a:lstStyle/>
          <a:p>
            <a:pPr>
              <a:lnSpc>
                <a:spcPct val="124000"/>
              </a:lnSpc>
              <a:spcAft>
                <a:spcPts val="1872"/>
              </a:spcAft>
            </a:pPr>
            <a:r>
              <a:rPr sz="1150">
                <a:solidFill>
                  <a:srgbClr val="62798A"/>
                </a:solidFill>
                <a:latin typeface="Calibri"/>
              </a:rPr>
              <a:t>•   Wait for a condition, never sleep a fixed interval</a:t>
            </a:r>
          </a:p>
          <a:p>
            <a:pPr>
              <a:lnSpc>
                <a:spcPct val="124000"/>
              </a:lnSpc>
              <a:spcAft>
                <a:spcPts val="1872"/>
              </a:spcAft>
            </a:pPr>
            <a:r>
              <a:rPr sz="1150">
                <a:solidFill>
                  <a:srgbClr val="62798A"/>
                </a:solidFill>
                <a:latin typeface="Calibri"/>
              </a:rPr>
              <a:t>•   Assert on behaviour, not on configuration text</a:t>
            </a:r>
          </a:p>
          <a:p>
            <a:pPr>
              <a:lnSpc>
                <a:spcPct val="124000"/>
              </a:lnSpc>
              <a:spcAft>
                <a:spcPts val="1872"/>
              </a:spcAft>
            </a:pPr>
            <a:r>
              <a:rPr sz="1150">
                <a:solidFill>
                  <a:srgbClr val="62798A"/>
                </a:solidFill>
                <a:latin typeface="Calibri"/>
              </a:rPr>
              <a:t>•   Every destructive test restores what it broke</a:t>
            </a:r>
          </a:p>
          <a:p>
            <a:pPr>
              <a:lnSpc>
                <a:spcPct val="124000"/>
              </a:lnSpc>
              <a:spcAft>
                <a:spcPts val="1872"/>
              </a:spcAft>
            </a:pPr>
            <a:r>
              <a:rPr sz="1150">
                <a:solidFill>
                  <a:srgbClr val="62798A"/>
                </a:solidFill>
                <a:latin typeface="Calibri"/>
              </a:rPr>
              <a:t>•   Restoration ends when traffic moves again, not when config returns</a:t>
            </a:r>
          </a:p>
          <a:p>
            <a:pPr>
              <a:lnSpc>
                <a:spcPct val="124000"/>
              </a:lnSpc>
              <a:spcAft>
                <a:spcPts val="1872"/>
              </a:spcAft>
            </a:pPr>
            <a:r>
              <a:rPr sz="1150">
                <a:solidFill>
                  <a:srgbClr val="62798A"/>
                </a:solidFill>
                <a:latin typeface="Calibri"/>
              </a:rPr>
              <a:t>•   Probe the device before writing the assertion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The 23 suites</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215 tests, every one passing on the reference run of 8 September 2026</a:t>
            </a:r>
          </a:p>
        </p:txBody>
      </p:sp>
      <p:sp>
        <p:nvSpPr>
          <p:cNvPr id="5" name="Rounded Rectangle 4"/>
          <p:cNvSpPr/>
          <p:nvPr/>
        </p:nvSpPr>
        <p:spPr>
          <a:xfrm>
            <a:off x="685800" y="1609344"/>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609344"/>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01</a:t>
            </a:r>
          </a:p>
        </p:txBody>
      </p:sp>
      <p:sp>
        <p:nvSpPr>
          <p:cNvPr id="7" name="TextBox 6"/>
          <p:cNvSpPr txBox="1"/>
          <p:nvPr/>
        </p:nvSpPr>
        <p:spPr>
          <a:xfrm>
            <a:off x="1252728" y="1609344"/>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Platform</a:t>
            </a:r>
          </a:p>
        </p:txBody>
      </p:sp>
      <p:sp>
        <p:nvSpPr>
          <p:cNvPr id="8" name="Rounded Rectangle 7"/>
          <p:cNvSpPr/>
          <p:nvPr/>
        </p:nvSpPr>
        <p:spPr>
          <a:xfrm>
            <a:off x="3483864" y="1700784"/>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83864" y="1700784"/>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5</a:t>
            </a:r>
          </a:p>
        </p:txBody>
      </p:sp>
      <p:sp>
        <p:nvSpPr>
          <p:cNvPr id="10" name="Rounded Rectangle 9"/>
          <p:cNvSpPr/>
          <p:nvPr/>
        </p:nvSpPr>
        <p:spPr>
          <a:xfrm>
            <a:off x="685800" y="2071116"/>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2071116"/>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02</a:t>
            </a:r>
          </a:p>
        </p:txBody>
      </p:sp>
      <p:sp>
        <p:nvSpPr>
          <p:cNvPr id="12" name="TextBox 11"/>
          <p:cNvSpPr txBox="1"/>
          <p:nvPr/>
        </p:nvSpPr>
        <p:spPr>
          <a:xfrm>
            <a:off x="1252728" y="2071116"/>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Configuration</a:t>
            </a:r>
          </a:p>
        </p:txBody>
      </p:sp>
      <p:sp>
        <p:nvSpPr>
          <p:cNvPr id="13" name="Rounded Rectangle 12"/>
          <p:cNvSpPr/>
          <p:nvPr/>
        </p:nvSpPr>
        <p:spPr>
          <a:xfrm>
            <a:off x="3483864" y="2162556"/>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3864" y="2162556"/>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5</a:t>
            </a:r>
          </a:p>
        </p:txBody>
      </p:sp>
      <p:sp>
        <p:nvSpPr>
          <p:cNvPr id="15" name="Rounded Rectangle 14"/>
          <p:cNvSpPr/>
          <p:nvPr/>
        </p:nvSpPr>
        <p:spPr>
          <a:xfrm>
            <a:off x="685800" y="2532888"/>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2532888"/>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03</a:t>
            </a:r>
          </a:p>
        </p:txBody>
      </p:sp>
      <p:sp>
        <p:nvSpPr>
          <p:cNvPr id="17" name="TextBox 16"/>
          <p:cNvSpPr txBox="1"/>
          <p:nvPr/>
        </p:nvSpPr>
        <p:spPr>
          <a:xfrm>
            <a:off x="1252728" y="2532888"/>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WAN</a:t>
            </a:r>
          </a:p>
        </p:txBody>
      </p:sp>
      <p:sp>
        <p:nvSpPr>
          <p:cNvPr id="18" name="Rounded Rectangle 17"/>
          <p:cNvSpPr/>
          <p:nvPr/>
        </p:nvSpPr>
        <p:spPr>
          <a:xfrm>
            <a:off x="3483864" y="2624328"/>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2624328"/>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6</a:t>
            </a:r>
          </a:p>
        </p:txBody>
      </p:sp>
      <p:sp>
        <p:nvSpPr>
          <p:cNvPr id="20" name="Rounded Rectangle 19"/>
          <p:cNvSpPr/>
          <p:nvPr/>
        </p:nvSpPr>
        <p:spPr>
          <a:xfrm>
            <a:off x="685800" y="2994660"/>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 y="2994660"/>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04</a:t>
            </a:r>
          </a:p>
        </p:txBody>
      </p:sp>
      <p:sp>
        <p:nvSpPr>
          <p:cNvPr id="22" name="TextBox 21"/>
          <p:cNvSpPr txBox="1"/>
          <p:nvPr/>
        </p:nvSpPr>
        <p:spPr>
          <a:xfrm>
            <a:off x="1252728" y="2994660"/>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DMVPN</a:t>
            </a:r>
          </a:p>
        </p:txBody>
      </p:sp>
      <p:sp>
        <p:nvSpPr>
          <p:cNvPr id="23" name="Rounded Rectangle 22"/>
          <p:cNvSpPr/>
          <p:nvPr/>
        </p:nvSpPr>
        <p:spPr>
          <a:xfrm>
            <a:off x="3483864" y="3086100"/>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83864" y="3086100"/>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13</a:t>
            </a:r>
          </a:p>
        </p:txBody>
      </p:sp>
      <p:sp>
        <p:nvSpPr>
          <p:cNvPr id="25" name="Rounded Rectangle 24"/>
          <p:cNvSpPr/>
          <p:nvPr/>
        </p:nvSpPr>
        <p:spPr>
          <a:xfrm>
            <a:off x="685800" y="3456432"/>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 y="3456432"/>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05</a:t>
            </a:r>
          </a:p>
        </p:txBody>
      </p:sp>
      <p:sp>
        <p:nvSpPr>
          <p:cNvPr id="27" name="TextBox 26"/>
          <p:cNvSpPr txBox="1"/>
          <p:nvPr/>
        </p:nvSpPr>
        <p:spPr>
          <a:xfrm>
            <a:off x="1252728" y="3456432"/>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Capture state</a:t>
            </a:r>
          </a:p>
        </p:txBody>
      </p:sp>
      <p:sp>
        <p:nvSpPr>
          <p:cNvPr id="28" name="Rounded Rectangle 27"/>
          <p:cNvSpPr/>
          <p:nvPr/>
        </p:nvSpPr>
        <p:spPr>
          <a:xfrm>
            <a:off x="3483864" y="3547872"/>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83864" y="3547872"/>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12</a:t>
            </a:r>
          </a:p>
        </p:txBody>
      </p:sp>
      <p:sp>
        <p:nvSpPr>
          <p:cNvPr id="30" name="Rounded Rectangle 29"/>
          <p:cNvSpPr/>
          <p:nvPr/>
        </p:nvSpPr>
        <p:spPr>
          <a:xfrm>
            <a:off x="685800" y="3918204"/>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 y="3918204"/>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06</a:t>
            </a:r>
          </a:p>
        </p:txBody>
      </p:sp>
      <p:sp>
        <p:nvSpPr>
          <p:cNvPr id="32" name="TextBox 31"/>
          <p:cNvSpPr txBox="1"/>
          <p:nvPr/>
        </p:nvSpPr>
        <p:spPr>
          <a:xfrm>
            <a:off x="1252728" y="3918204"/>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Wire encryption</a:t>
            </a:r>
          </a:p>
        </p:txBody>
      </p:sp>
      <p:sp>
        <p:nvSpPr>
          <p:cNvPr id="33" name="Rounded Rectangle 32"/>
          <p:cNvSpPr/>
          <p:nvPr/>
        </p:nvSpPr>
        <p:spPr>
          <a:xfrm>
            <a:off x="3483864" y="4009644"/>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83864" y="4009644"/>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3</a:t>
            </a:r>
          </a:p>
        </p:txBody>
      </p:sp>
      <p:sp>
        <p:nvSpPr>
          <p:cNvPr id="35" name="Rounded Rectangle 34"/>
          <p:cNvSpPr/>
          <p:nvPr/>
        </p:nvSpPr>
        <p:spPr>
          <a:xfrm>
            <a:off x="685800" y="4379976"/>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 y="4379976"/>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07</a:t>
            </a:r>
          </a:p>
        </p:txBody>
      </p:sp>
      <p:sp>
        <p:nvSpPr>
          <p:cNvPr id="37" name="TextBox 36"/>
          <p:cNvSpPr txBox="1"/>
          <p:nvPr/>
        </p:nvSpPr>
        <p:spPr>
          <a:xfrm>
            <a:off x="1252728" y="4379976"/>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IPsec negative</a:t>
            </a:r>
          </a:p>
        </p:txBody>
      </p:sp>
      <p:sp>
        <p:nvSpPr>
          <p:cNvPr id="38" name="Rounded Rectangle 37"/>
          <p:cNvSpPr/>
          <p:nvPr/>
        </p:nvSpPr>
        <p:spPr>
          <a:xfrm>
            <a:off x="3483864" y="4471416"/>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83864" y="4471416"/>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3</a:t>
            </a:r>
          </a:p>
        </p:txBody>
      </p:sp>
      <p:sp>
        <p:nvSpPr>
          <p:cNvPr id="40" name="Rounded Rectangle 39"/>
          <p:cNvSpPr/>
          <p:nvPr/>
        </p:nvSpPr>
        <p:spPr>
          <a:xfrm>
            <a:off x="685800" y="4841748"/>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4841748"/>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08</a:t>
            </a:r>
          </a:p>
        </p:txBody>
      </p:sp>
      <p:sp>
        <p:nvSpPr>
          <p:cNvPr id="42" name="TextBox 41"/>
          <p:cNvSpPr txBox="1"/>
          <p:nvPr/>
        </p:nvSpPr>
        <p:spPr>
          <a:xfrm>
            <a:off x="1252728" y="4841748"/>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Management API</a:t>
            </a:r>
          </a:p>
        </p:txBody>
      </p:sp>
      <p:sp>
        <p:nvSpPr>
          <p:cNvPr id="43" name="Rounded Rectangle 42"/>
          <p:cNvSpPr/>
          <p:nvPr/>
        </p:nvSpPr>
        <p:spPr>
          <a:xfrm>
            <a:off x="3483864" y="4933188"/>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83864" y="4933188"/>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6</a:t>
            </a:r>
          </a:p>
        </p:txBody>
      </p:sp>
      <p:sp>
        <p:nvSpPr>
          <p:cNvPr id="45" name="Rounded Rectangle 44"/>
          <p:cNvSpPr/>
          <p:nvPr/>
        </p:nvSpPr>
        <p:spPr>
          <a:xfrm>
            <a:off x="4370832" y="1609344"/>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7136" y="1609344"/>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09</a:t>
            </a:r>
          </a:p>
        </p:txBody>
      </p:sp>
      <p:sp>
        <p:nvSpPr>
          <p:cNvPr id="47" name="TextBox 46"/>
          <p:cNvSpPr txBox="1"/>
          <p:nvPr/>
        </p:nvSpPr>
        <p:spPr>
          <a:xfrm>
            <a:off x="4937760" y="1609344"/>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BGP</a:t>
            </a:r>
          </a:p>
        </p:txBody>
      </p:sp>
      <p:sp>
        <p:nvSpPr>
          <p:cNvPr id="48" name="Rounded Rectangle 47"/>
          <p:cNvSpPr/>
          <p:nvPr/>
        </p:nvSpPr>
        <p:spPr>
          <a:xfrm>
            <a:off x="7168896" y="1700784"/>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68896" y="1700784"/>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26</a:t>
            </a:r>
          </a:p>
        </p:txBody>
      </p:sp>
      <p:sp>
        <p:nvSpPr>
          <p:cNvPr id="50" name="Rounded Rectangle 49"/>
          <p:cNvSpPr/>
          <p:nvPr/>
        </p:nvSpPr>
        <p:spPr>
          <a:xfrm>
            <a:off x="4370832" y="2071116"/>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17136" y="2071116"/>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10</a:t>
            </a:r>
          </a:p>
        </p:txBody>
      </p:sp>
      <p:sp>
        <p:nvSpPr>
          <p:cNvPr id="52" name="TextBox 51"/>
          <p:cNvSpPr txBox="1"/>
          <p:nvPr/>
        </p:nvSpPr>
        <p:spPr>
          <a:xfrm>
            <a:off x="4937760" y="2071116"/>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Host to host</a:t>
            </a:r>
          </a:p>
        </p:txBody>
      </p:sp>
      <p:sp>
        <p:nvSpPr>
          <p:cNvPr id="53" name="Rounded Rectangle 52"/>
          <p:cNvSpPr/>
          <p:nvPr/>
        </p:nvSpPr>
        <p:spPr>
          <a:xfrm>
            <a:off x="7168896" y="2162556"/>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68896" y="2162556"/>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10</a:t>
            </a:r>
          </a:p>
        </p:txBody>
      </p:sp>
      <p:sp>
        <p:nvSpPr>
          <p:cNvPr id="55" name="Rounded Rectangle 54"/>
          <p:cNvSpPr/>
          <p:nvPr/>
        </p:nvSpPr>
        <p:spPr>
          <a:xfrm>
            <a:off x="4370832" y="2532888"/>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17136" y="2532888"/>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11</a:t>
            </a:r>
          </a:p>
        </p:txBody>
      </p:sp>
      <p:sp>
        <p:nvSpPr>
          <p:cNvPr id="57" name="TextBox 56"/>
          <p:cNvSpPr txBox="1"/>
          <p:nvPr/>
        </p:nvSpPr>
        <p:spPr>
          <a:xfrm>
            <a:off x="4937760" y="2532888"/>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Throughput</a:t>
            </a:r>
          </a:p>
        </p:txBody>
      </p:sp>
      <p:sp>
        <p:nvSpPr>
          <p:cNvPr id="58" name="Rounded Rectangle 57"/>
          <p:cNvSpPr/>
          <p:nvPr/>
        </p:nvSpPr>
        <p:spPr>
          <a:xfrm>
            <a:off x="7168896" y="2624328"/>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68896" y="2624328"/>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3</a:t>
            </a:r>
          </a:p>
        </p:txBody>
      </p:sp>
      <p:sp>
        <p:nvSpPr>
          <p:cNvPr id="60" name="Rounded Rectangle 59"/>
          <p:cNvSpPr/>
          <p:nvPr/>
        </p:nvSpPr>
        <p:spPr>
          <a:xfrm>
            <a:off x="4370832" y="2994660"/>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17136" y="2994660"/>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12</a:t>
            </a:r>
          </a:p>
        </p:txBody>
      </p:sp>
      <p:sp>
        <p:nvSpPr>
          <p:cNvPr id="62" name="TextBox 61"/>
          <p:cNvSpPr txBox="1"/>
          <p:nvPr/>
        </p:nvSpPr>
        <p:spPr>
          <a:xfrm>
            <a:off x="4937760" y="2994660"/>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NAT</a:t>
            </a:r>
          </a:p>
        </p:txBody>
      </p:sp>
      <p:sp>
        <p:nvSpPr>
          <p:cNvPr id="63" name="Rounded Rectangle 62"/>
          <p:cNvSpPr/>
          <p:nvPr/>
        </p:nvSpPr>
        <p:spPr>
          <a:xfrm>
            <a:off x="7168896" y="3086100"/>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68896" y="3086100"/>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10</a:t>
            </a:r>
          </a:p>
        </p:txBody>
      </p:sp>
      <p:sp>
        <p:nvSpPr>
          <p:cNvPr id="65" name="Rounded Rectangle 64"/>
          <p:cNvSpPr/>
          <p:nvPr/>
        </p:nvSpPr>
        <p:spPr>
          <a:xfrm>
            <a:off x="4370832" y="3456432"/>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17136" y="3456432"/>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13</a:t>
            </a:r>
          </a:p>
        </p:txBody>
      </p:sp>
      <p:sp>
        <p:nvSpPr>
          <p:cNvPr id="67" name="TextBox 66"/>
          <p:cNvSpPr txBox="1"/>
          <p:nvPr/>
        </p:nvSpPr>
        <p:spPr>
          <a:xfrm>
            <a:off x="4937760" y="3456432"/>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NAT pool</a:t>
            </a:r>
          </a:p>
        </p:txBody>
      </p:sp>
      <p:sp>
        <p:nvSpPr>
          <p:cNvPr id="68" name="Rounded Rectangle 67"/>
          <p:cNvSpPr/>
          <p:nvPr/>
        </p:nvSpPr>
        <p:spPr>
          <a:xfrm>
            <a:off x="7168896" y="3547872"/>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168896" y="3547872"/>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13</a:t>
            </a:r>
          </a:p>
        </p:txBody>
      </p:sp>
      <p:sp>
        <p:nvSpPr>
          <p:cNvPr id="70" name="Rounded Rectangle 69"/>
          <p:cNvSpPr/>
          <p:nvPr/>
        </p:nvSpPr>
        <p:spPr>
          <a:xfrm>
            <a:off x="4370832" y="3918204"/>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17136" y="3918204"/>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14</a:t>
            </a:r>
          </a:p>
        </p:txBody>
      </p:sp>
      <p:sp>
        <p:nvSpPr>
          <p:cNvPr id="72" name="TextBox 71"/>
          <p:cNvSpPr txBox="1"/>
          <p:nvPr/>
        </p:nvSpPr>
        <p:spPr>
          <a:xfrm>
            <a:off x="4937760" y="3918204"/>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NTP</a:t>
            </a:r>
          </a:p>
        </p:txBody>
      </p:sp>
      <p:sp>
        <p:nvSpPr>
          <p:cNvPr id="73" name="Rounded Rectangle 72"/>
          <p:cNvSpPr/>
          <p:nvPr/>
        </p:nvSpPr>
        <p:spPr>
          <a:xfrm>
            <a:off x="7168896" y="4009644"/>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168896" y="4009644"/>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12</a:t>
            </a:r>
          </a:p>
        </p:txBody>
      </p:sp>
      <p:sp>
        <p:nvSpPr>
          <p:cNvPr id="75" name="Rounded Rectangle 74"/>
          <p:cNvSpPr/>
          <p:nvPr/>
        </p:nvSpPr>
        <p:spPr>
          <a:xfrm>
            <a:off x="4370832" y="4379976"/>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17136" y="4379976"/>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15</a:t>
            </a:r>
          </a:p>
        </p:txBody>
      </p:sp>
      <p:sp>
        <p:nvSpPr>
          <p:cNvPr id="77" name="TextBox 76"/>
          <p:cNvSpPr txBox="1"/>
          <p:nvPr/>
        </p:nvSpPr>
        <p:spPr>
          <a:xfrm>
            <a:off x="4937760" y="4379976"/>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Syslog</a:t>
            </a:r>
          </a:p>
        </p:txBody>
      </p:sp>
      <p:sp>
        <p:nvSpPr>
          <p:cNvPr id="78" name="Rounded Rectangle 77"/>
          <p:cNvSpPr/>
          <p:nvPr/>
        </p:nvSpPr>
        <p:spPr>
          <a:xfrm>
            <a:off x="7168896" y="4471416"/>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168896" y="4471416"/>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10</a:t>
            </a:r>
          </a:p>
        </p:txBody>
      </p:sp>
      <p:sp>
        <p:nvSpPr>
          <p:cNvPr id="80" name="Rounded Rectangle 79"/>
          <p:cNvSpPr/>
          <p:nvPr/>
        </p:nvSpPr>
        <p:spPr>
          <a:xfrm>
            <a:off x="4370832" y="4841748"/>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517136" y="4841748"/>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16</a:t>
            </a:r>
          </a:p>
        </p:txBody>
      </p:sp>
      <p:sp>
        <p:nvSpPr>
          <p:cNvPr id="82" name="TextBox 81"/>
          <p:cNvSpPr txBox="1"/>
          <p:nvPr/>
        </p:nvSpPr>
        <p:spPr>
          <a:xfrm>
            <a:off x="4937760" y="4841748"/>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SNMPv3</a:t>
            </a:r>
          </a:p>
        </p:txBody>
      </p:sp>
      <p:sp>
        <p:nvSpPr>
          <p:cNvPr id="83" name="Rounded Rectangle 82"/>
          <p:cNvSpPr/>
          <p:nvPr/>
        </p:nvSpPr>
        <p:spPr>
          <a:xfrm>
            <a:off x="7168896" y="4933188"/>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168896" y="4933188"/>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13</a:t>
            </a:r>
          </a:p>
        </p:txBody>
      </p:sp>
      <p:sp>
        <p:nvSpPr>
          <p:cNvPr id="85" name="Rounded Rectangle 84"/>
          <p:cNvSpPr/>
          <p:nvPr/>
        </p:nvSpPr>
        <p:spPr>
          <a:xfrm>
            <a:off x="8055864" y="1609344"/>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202168" y="1609344"/>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17</a:t>
            </a:r>
          </a:p>
        </p:txBody>
      </p:sp>
      <p:sp>
        <p:nvSpPr>
          <p:cNvPr id="87" name="TextBox 86"/>
          <p:cNvSpPr txBox="1"/>
          <p:nvPr/>
        </p:nvSpPr>
        <p:spPr>
          <a:xfrm>
            <a:off x="8622792" y="1609344"/>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SNMP polling</a:t>
            </a:r>
          </a:p>
        </p:txBody>
      </p:sp>
      <p:sp>
        <p:nvSpPr>
          <p:cNvPr id="88" name="Rounded Rectangle 87"/>
          <p:cNvSpPr/>
          <p:nvPr/>
        </p:nvSpPr>
        <p:spPr>
          <a:xfrm>
            <a:off x="10853928" y="1700784"/>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853928" y="1700784"/>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14</a:t>
            </a:r>
          </a:p>
        </p:txBody>
      </p:sp>
      <p:sp>
        <p:nvSpPr>
          <p:cNvPr id="90" name="Rounded Rectangle 89"/>
          <p:cNvSpPr/>
          <p:nvPr/>
        </p:nvSpPr>
        <p:spPr>
          <a:xfrm>
            <a:off x="8055864" y="2071116"/>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02168" y="2071116"/>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18</a:t>
            </a:r>
          </a:p>
        </p:txBody>
      </p:sp>
      <p:sp>
        <p:nvSpPr>
          <p:cNvPr id="92" name="TextBox 91"/>
          <p:cNvSpPr txBox="1"/>
          <p:nvPr/>
        </p:nvSpPr>
        <p:spPr>
          <a:xfrm>
            <a:off x="8622792" y="2071116"/>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MTU</a:t>
            </a:r>
          </a:p>
        </p:txBody>
      </p:sp>
      <p:sp>
        <p:nvSpPr>
          <p:cNvPr id="93" name="Rounded Rectangle 92"/>
          <p:cNvSpPr/>
          <p:nvPr/>
        </p:nvSpPr>
        <p:spPr>
          <a:xfrm>
            <a:off x="10853928" y="2162556"/>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853928" y="2162556"/>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8</a:t>
            </a:r>
          </a:p>
        </p:txBody>
      </p:sp>
      <p:sp>
        <p:nvSpPr>
          <p:cNvPr id="95" name="Rounded Rectangle 94"/>
          <p:cNvSpPr/>
          <p:nvPr/>
        </p:nvSpPr>
        <p:spPr>
          <a:xfrm>
            <a:off x="8055864" y="2532888"/>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202168" y="2532888"/>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19</a:t>
            </a:r>
          </a:p>
        </p:txBody>
      </p:sp>
      <p:sp>
        <p:nvSpPr>
          <p:cNvPr id="97" name="TextBox 96"/>
          <p:cNvSpPr txBox="1"/>
          <p:nvPr/>
        </p:nvSpPr>
        <p:spPr>
          <a:xfrm>
            <a:off x="8622792" y="2532888"/>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Out of band</a:t>
            </a:r>
          </a:p>
        </p:txBody>
      </p:sp>
      <p:sp>
        <p:nvSpPr>
          <p:cNvPr id="98" name="Rounded Rectangle 97"/>
          <p:cNvSpPr/>
          <p:nvPr/>
        </p:nvSpPr>
        <p:spPr>
          <a:xfrm>
            <a:off x="10853928" y="2624328"/>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853928" y="2624328"/>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9</a:t>
            </a:r>
          </a:p>
        </p:txBody>
      </p:sp>
      <p:sp>
        <p:nvSpPr>
          <p:cNvPr id="100" name="Rounded Rectangle 99"/>
          <p:cNvSpPr/>
          <p:nvPr/>
        </p:nvSpPr>
        <p:spPr>
          <a:xfrm>
            <a:off x="8055864" y="2994660"/>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202168" y="2994660"/>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20</a:t>
            </a:r>
          </a:p>
        </p:txBody>
      </p:sp>
      <p:sp>
        <p:nvSpPr>
          <p:cNvPr id="102" name="TextBox 101"/>
          <p:cNvSpPr txBox="1"/>
          <p:nvPr/>
        </p:nvSpPr>
        <p:spPr>
          <a:xfrm>
            <a:off x="8622792" y="2994660"/>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TACACS+</a:t>
            </a:r>
          </a:p>
        </p:txBody>
      </p:sp>
      <p:sp>
        <p:nvSpPr>
          <p:cNvPr id="103" name="Rounded Rectangle 102"/>
          <p:cNvSpPr/>
          <p:nvPr/>
        </p:nvSpPr>
        <p:spPr>
          <a:xfrm>
            <a:off x="10853928" y="3086100"/>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853928" y="3086100"/>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12</a:t>
            </a:r>
          </a:p>
        </p:txBody>
      </p:sp>
      <p:sp>
        <p:nvSpPr>
          <p:cNvPr id="105" name="Rounded Rectangle 104"/>
          <p:cNvSpPr/>
          <p:nvPr/>
        </p:nvSpPr>
        <p:spPr>
          <a:xfrm>
            <a:off x="8055864" y="3456432"/>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202168" y="3456432"/>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21</a:t>
            </a:r>
          </a:p>
        </p:txBody>
      </p:sp>
      <p:sp>
        <p:nvSpPr>
          <p:cNvPr id="107" name="TextBox 106"/>
          <p:cNvSpPr txBox="1"/>
          <p:nvPr/>
        </p:nvSpPr>
        <p:spPr>
          <a:xfrm>
            <a:off x="8622792" y="3456432"/>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VTY ACL</a:t>
            </a:r>
          </a:p>
        </p:txBody>
      </p:sp>
      <p:sp>
        <p:nvSpPr>
          <p:cNvPr id="108" name="Rounded Rectangle 107"/>
          <p:cNvSpPr/>
          <p:nvPr/>
        </p:nvSpPr>
        <p:spPr>
          <a:xfrm>
            <a:off x="10853928" y="3547872"/>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853928" y="3547872"/>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9</a:t>
            </a:r>
          </a:p>
        </p:txBody>
      </p:sp>
      <p:sp>
        <p:nvSpPr>
          <p:cNvPr id="110" name="Rounded Rectangle 109"/>
          <p:cNvSpPr/>
          <p:nvPr/>
        </p:nvSpPr>
        <p:spPr>
          <a:xfrm>
            <a:off x="8055864" y="3918204"/>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202168" y="3918204"/>
            <a:ext cx="384048" cy="402336"/>
          </a:xfrm>
          <a:prstGeom prst="rect">
            <a:avLst/>
          </a:prstGeom>
          <a:noFill/>
        </p:spPr>
        <p:txBody>
          <a:bodyPr wrap="square" lIns="0" rIns="0" tIns="0" bIns="0" anchor="ctr">
            <a:spAutoFit/>
          </a:bodyPr>
          <a:lstStyle/>
          <a:p>
            <a:pPr algn="l">
              <a:lnSpc>
                <a:spcPct val="122000"/>
              </a:lnSpc>
            </a:pPr>
            <a:r>
              <a:rPr sz="1100" b="1" i="0">
                <a:solidFill>
                  <a:srgbClr val="00A896"/>
                </a:solidFill>
                <a:latin typeface="Courier New"/>
              </a:rPr>
              <a:t>22</a:t>
            </a:r>
          </a:p>
        </p:txBody>
      </p:sp>
      <p:sp>
        <p:nvSpPr>
          <p:cNvPr id="112" name="TextBox 111"/>
          <p:cNvSpPr txBox="1"/>
          <p:nvPr/>
        </p:nvSpPr>
        <p:spPr>
          <a:xfrm>
            <a:off x="8622792" y="3918204"/>
            <a:ext cx="2148840" cy="402336"/>
          </a:xfrm>
          <a:prstGeom prst="rect">
            <a:avLst/>
          </a:prstGeom>
          <a:noFill/>
        </p:spPr>
        <p:txBody>
          <a:bodyPr wrap="square" lIns="0" rIns="0" tIns="0" bIns="0" anchor="ctr">
            <a:spAutoFit/>
          </a:bodyPr>
          <a:lstStyle/>
          <a:p>
            <a:pPr algn="l">
              <a:lnSpc>
                <a:spcPct val="122000"/>
              </a:lnSpc>
            </a:pPr>
            <a:r>
              <a:rPr sz="1150" b="0" i="0">
                <a:solidFill>
                  <a:srgbClr val="16232B"/>
                </a:solidFill>
                <a:latin typeface="Calibri"/>
              </a:rPr>
              <a:t>Banner</a:t>
            </a:r>
          </a:p>
        </p:txBody>
      </p:sp>
      <p:sp>
        <p:nvSpPr>
          <p:cNvPr id="113" name="Rounded Rectangle 112"/>
          <p:cNvSpPr/>
          <p:nvPr/>
        </p:nvSpPr>
        <p:spPr>
          <a:xfrm>
            <a:off x="10853928" y="4009644"/>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853928" y="4009644"/>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6</a:t>
            </a:r>
          </a:p>
        </p:txBody>
      </p:sp>
      <p:sp>
        <p:nvSpPr>
          <p:cNvPr id="115" name="Rounded Rectangle 114"/>
          <p:cNvSpPr/>
          <p:nvPr/>
        </p:nvSpPr>
        <p:spPr>
          <a:xfrm>
            <a:off x="8055864" y="4379976"/>
            <a:ext cx="3456432" cy="402336"/>
          </a:xfrm>
          <a:prstGeom prst="roundRect">
            <a:avLst>
              <a:gd name="adj" fmla="val 13636"/>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202168" y="4379976"/>
            <a:ext cx="384048" cy="402336"/>
          </a:xfrm>
          <a:prstGeom prst="rect">
            <a:avLst/>
          </a:prstGeom>
          <a:noFill/>
        </p:spPr>
        <p:txBody>
          <a:bodyPr wrap="square" lIns="0" rIns="0" tIns="0" bIns="0" anchor="ctr">
            <a:spAutoFit/>
          </a:bodyPr>
          <a:lstStyle/>
          <a:p>
            <a:pPr algn="l">
              <a:lnSpc>
                <a:spcPct val="122000"/>
              </a:lnSpc>
            </a:pPr>
            <a:r>
              <a:rPr sz="1100" b="1" i="0">
                <a:solidFill>
                  <a:srgbClr val="C05B5B"/>
                </a:solidFill>
                <a:latin typeface="Courier New"/>
              </a:rPr>
              <a:t>23</a:t>
            </a:r>
          </a:p>
        </p:txBody>
      </p:sp>
      <p:sp>
        <p:nvSpPr>
          <p:cNvPr id="117" name="TextBox 116"/>
          <p:cNvSpPr txBox="1"/>
          <p:nvPr/>
        </p:nvSpPr>
        <p:spPr>
          <a:xfrm>
            <a:off x="8622792" y="4379976"/>
            <a:ext cx="2148840" cy="402336"/>
          </a:xfrm>
          <a:prstGeom prst="rect">
            <a:avLst/>
          </a:prstGeom>
          <a:noFill/>
        </p:spPr>
        <p:txBody>
          <a:bodyPr wrap="square" lIns="0" rIns="0" tIns="0" bIns="0" anchor="ctr">
            <a:spAutoFit/>
          </a:bodyPr>
          <a:lstStyle/>
          <a:p>
            <a:pPr algn="l">
              <a:lnSpc>
                <a:spcPct val="122000"/>
              </a:lnSpc>
            </a:pPr>
            <a:r>
              <a:rPr sz="1150" b="1" i="0">
                <a:solidFill>
                  <a:srgbClr val="16232B"/>
                </a:solidFill>
                <a:latin typeface="Calibri"/>
              </a:rPr>
              <a:t>Destructive</a:t>
            </a:r>
          </a:p>
        </p:txBody>
      </p:sp>
      <p:sp>
        <p:nvSpPr>
          <p:cNvPr id="118" name="Rounded Rectangle 117"/>
          <p:cNvSpPr/>
          <p:nvPr/>
        </p:nvSpPr>
        <p:spPr>
          <a:xfrm>
            <a:off x="10853928" y="4471416"/>
            <a:ext cx="493776" cy="219456"/>
          </a:xfrm>
          <a:prstGeom prst="roundRect">
            <a:avLst>
              <a:gd name="adj" fmla="val 50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0853928" y="4471416"/>
            <a:ext cx="493776" cy="219456"/>
          </a:xfrm>
          <a:prstGeom prst="rect">
            <a:avLst/>
          </a:prstGeom>
          <a:noFill/>
        </p:spPr>
        <p:txBody>
          <a:bodyPr wrap="square" lIns="0" rIns="0" tIns="0" bIns="0" anchor="ctr">
            <a:spAutoFit/>
          </a:bodyPr>
          <a:lstStyle/>
          <a:p>
            <a:pPr algn="ctr">
              <a:lnSpc>
                <a:spcPct val="122000"/>
              </a:lnSpc>
            </a:pPr>
            <a:r>
              <a:rPr sz="1000" b="1" i="0">
                <a:solidFill>
                  <a:srgbClr val="62798A"/>
                </a:solidFill>
                <a:latin typeface="Calibri"/>
              </a:rPr>
              <a:t>7</a:t>
            </a:r>
          </a:p>
        </p:txBody>
      </p:sp>
      <p:sp>
        <p:nvSpPr>
          <p:cNvPr id="120" name="Rounded Rectangle 119"/>
          <p:cNvSpPr/>
          <p:nvPr/>
        </p:nvSpPr>
        <p:spPr>
          <a:xfrm>
            <a:off x="8055864" y="5303520"/>
            <a:ext cx="3447288" cy="950976"/>
          </a:xfrm>
          <a:prstGeom prst="roundRect">
            <a:avLst>
              <a:gd name="adj" fmla="val 8653"/>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330183" y="5449824"/>
            <a:ext cx="2926080" cy="274320"/>
          </a:xfrm>
          <a:prstGeom prst="rect">
            <a:avLst/>
          </a:prstGeom>
          <a:noFill/>
        </p:spPr>
        <p:txBody>
          <a:bodyPr wrap="square" lIns="0" rIns="0" tIns="0" bIns="0" anchor="t">
            <a:spAutoFit/>
          </a:bodyPr>
          <a:lstStyle/>
          <a:p>
            <a:pPr algn="l">
              <a:lnSpc>
                <a:spcPct val="122000"/>
              </a:lnSpc>
            </a:pPr>
            <a:r>
              <a:rPr sz="2200" b="1" i="0">
                <a:solidFill>
                  <a:srgbClr val="00A896"/>
                </a:solidFill>
                <a:latin typeface="Cambria"/>
              </a:rPr>
              <a:t>215 / 215</a:t>
            </a:r>
          </a:p>
        </p:txBody>
      </p:sp>
      <p:sp>
        <p:nvSpPr>
          <p:cNvPr id="122" name="TextBox 121"/>
          <p:cNvSpPr txBox="1"/>
          <p:nvPr/>
        </p:nvSpPr>
        <p:spPr>
          <a:xfrm>
            <a:off x="8330183" y="5779008"/>
            <a:ext cx="2926080" cy="237744"/>
          </a:xfrm>
          <a:prstGeom prst="rect">
            <a:avLst/>
          </a:prstGeom>
          <a:noFill/>
        </p:spPr>
        <p:txBody>
          <a:bodyPr wrap="square" lIns="0" rIns="0" tIns="0" bIns="0" anchor="t">
            <a:spAutoFit/>
          </a:bodyPr>
          <a:lstStyle/>
          <a:p>
            <a:pPr algn="l">
              <a:lnSpc>
                <a:spcPct val="122000"/>
              </a:lnSpc>
            </a:pPr>
            <a:r>
              <a:rPr sz="1100" b="0" i="0">
                <a:solidFill>
                  <a:srgbClr val="A9BCC5"/>
                </a:solidFill>
                <a:latin typeface="Calibri"/>
              </a:rPr>
              <a:t>24.2 minutes, end to end</a:t>
            </a:r>
          </a:p>
        </p:txBody>
      </p:sp>
      <p:sp>
        <p:nvSpPr>
          <p:cNvPr id="123" name="TextBox 122"/>
          <p:cNvSpPr txBox="1"/>
          <p:nvPr/>
        </p:nvSpPr>
        <p:spPr>
          <a:xfrm>
            <a:off x="685800" y="5486400"/>
            <a:ext cx="6949440" cy="658368"/>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BGP is the largest suite at 26 tests, because routing policy has the most ways to be quietly wrong: a community that is not stripped, an AS-path filter that permits what it should drop, a prefix-list that never matches.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The technology stack</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Open source throughout, except the router image itself</a:t>
            </a:r>
          </a:p>
        </p:txBody>
      </p:sp>
      <p:sp>
        <p:nvSpPr>
          <p:cNvPr id="5" name="Rounded Rectangle 4"/>
          <p:cNvSpPr/>
          <p:nvPr/>
        </p:nvSpPr>
        <p:spPr>
          <a:xfrm>
            <a:off x="685800" y="1627632"/>
            <a:ext cx="3456432" cy="2029968"/>
          </a:xfrm>
          <a:prstGeom prst="roundRect">
            <a:avLst>
              <a:gd name="adj" fmla="val 4054"/>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41832" y="1901952"/>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810512"/>
            <a:ext cx="2834640" cy="274320"/>
          </a:xfrm>
          <a:prstGeom prst="rect">
            <a:avLst/>
          </a:prstGeom>
          <a:noFill/>
        </p:spPr>
        <p:txBody>
          <a:bodyPr wrap="square" lIns="0" rIns="0" tIns="0" bIns="0" anchor="t">
            <a:spAutoFit/>
          </a:bodyPr>
          <a:lstStyle/>
          <a:p>
            <a:pPr algn="l">
              <a:lnSpc>
                <a:spcPct val="122000"/>
              </a:lnSpc>
            </a:pPr>
            <a:r>
              <a:rPr sz="1400" b="1" i="0">
                <a:solidFill>
                  <a:srgbClr val="16232B"/>
                </a:solidFill>
                <a:latin typeface="Cambria"/>
              </a:rPr>
              <a:t>Virtualisation</a:t>
            </a:r>
          </a:p>
        </p:txBody>
      </p:sp>
      <p:sp>
        <p:nvSpPr>
          <p:cNvPr id="8" name="TextBox 7"/>
          <p:cNvSpPr txBox="1"/>
          <p:nvPr/>
        </p:nvSpPr>
        <p:spPr>
          <a:xfrm>
            <a:off x="960120" y="2249424"/>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QEMU</a:t>
            </a:r>
          </a:p>
        </p:txBody>
      </p:sp>
      <p:sp>
        <p:nvSpPr>
          <p:cNvPr id="9" name="TextBox 8"/>
          <p:cNvSpPr txBox="1"/>
          <p:nvPr/>
        </p:nvSpPr>
        <p:spPr>
          <a:xfrm>
            <a:off x="2697480" y="2249424"/>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10.2.1</a:t>
            </a:r>
          </a:p>
        </p:txBody>
      </p:sp>
      <p:sp>
        <p:nvSpPr>
          <p:cNvPr id="10" name="TextBox 9"/>
          <p:cNvSpPr txBox="1"/>
          <p:nvPr/>
        </p:nvSpPr>
        <p:spPr>
          <a:xfrm>
            <a:off x="960120" y="2578608"/>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KVM</a:t>
            </a:r>
          </a:p>
        </p:txBody>
      </p:sp>
      <p:sp>
        <p:nvSpPr>
          <p:cNvPr id="11" name="TextBox 10"/>
          <p:cNvSpPr txBox="1"/>
          <p:nvPr/>
        </p:nvSpPr>
        <p:spPr>
          <a:xfrm>
            <a:off x="2697480" y="2578608"/>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hardware accel</a:t>
            </a:r>
          </a:p>
        </p:txBody>
      </p:sp>
      <p:sp>
        <p:nvSpPr>
          <p:cNvPr id="12" name="TextBox 11"/>
          <p:cNvSpPr txBox="1"/>
          <p:nvPr/>
        </p:nvSpPr>
        <p:spPr>
          <a:xfrm>
            <a:off x="960120" y="2907791"/>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virtio-net</a:t>
            </a:r>
          </a:p>
        </p:txBody>
      </p:sp>
      <p:sp>
        <p:nvSpPr>
          <p:cNvPr id="13" name="TextBox 12"/>
          <p:cNvSpPr txBox="1"/>
          <p:nvPr/>
        </p:nvSpPr>
        <p:spPr>
          <a:xfrm>
            <a:off x="2697480" y="2907791"/>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guest NICs</a:t>
            </a:r>
          </a:p>
        </p:txBody>
      </p:sp>
      <p:sp>
        <p:nvSpPr>
          <p:cNvPr id="14" name="TextBox 13"/>
          <p:cNvSpPr txBox="1"/>
          <p:nvPr/>
        </p:nvSpPr>
        <p:spPr>
          <a:xfrm>
            <a:off x="960120" y="3236975"/>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cloud-init</a:t>
            </a:r>
          </a:p>
        </p:txBody>
      </p:sp>
      <p:sp>
        <p:nvSpPr>
          <p:cNvPr id="15" name="TextBox 14"/>
          <p:cNvSpPr txBox="1"/>
          <p:nvPr/>
        </p:nvSpPr>
        <p:spPr>
          <a:xfrm>
            <a:off x="2697480" y="3236975"/>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NMS + host seed</a:t>
            </a:r>
          </a:p>
        </p:txBody>
      </p:sp>
      <p:sp>
        <p:nvSpPr>
          <p:cNvPr id="16" name="Rounded Rectangle 15"/>
          <p:cNvSpPr/>
          <p:nvPr/>
        </p:nvSpPr>
        <p:spPr>
          <a:xfrm>
            <a:off x="4370832" y="1627632"/>
            <a:ext cx="3456432" cy="2029968"/>
          </a:xfrm>
          <a:prstGeom prst="roundRect">
            <a:avLst>
              <a:gd name="adj" fmla="val 4054"/>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26864" y="1901952"/>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28032" y="1810512"/>
            <a:ext cx="2834640" cy="274320"/>
          </a:xfrm>
          <a:prstGeom prst="rect">
            <a:avLst/>
          </a:prstGeom>
          <a:noFill/>
        </p:spPr>
        <p:txBody>
          <a:bodyPr wrap="square" lIns="0" rIns="0" tIns="0" bIns="0" anchor="t">
            <a:spAutoFit/>
          </a:bodyPr>
          <a:lstStyle/>
          <a:p>
            <a:pPr algn="l">
              <a:lnSpc>
                <a:spcPct val="122000"/>
              </a:lnSpc>
            </a:pPr>
            <a:r>
              <a:rPr sz="1400" b="1" i="0">
                <a:solidFill>
                  <a:srgbClr val="16232B"/>
                </a:solidFill>
                <a:latin typeface="Cambria"/>
              </a:rPr>
              <a:t>Network operating system</a:t>
            </a:r>
          </a:p>
        </p:txBody>
      </p:sp>
      <p:sp>
        <p:nvSpPr>
          <p:cNvPr id="19" name="TextBox 18"/>
          <p:cNvSpPr txBox="1"/>
          <p:nvPr/>
        </p:nvSpPr>
        <p:spPr>
          <a:xfrm>
            <a:off x="4645152" y="2249424"/>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Catalyst 8000V</a:t>
            </a:r>
          </a:p>
        </p:txBody>
      </p:sp>
      <p:sp>
        <p:nvSpPr>
          <p:cNvPr id="20" name="TextBox 19"/>
          <p:cNvSpPr txBox="1"/>
          <p:nvPr/>
        </p:nvSpPr>
        <p:spPr>
          <a:xfrm>
            <a:off x="6382512" y="2249424"/>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IOS-XE 17.15.06</a:t>
            </a:r>
          </a:p>
        </p:txBody>
      </p:sp>
      <p:sp>
        <p:nvSpPr>
          <p:cNvPr id="21" name="TextBox 20"/>
          <p:cNvSpPr txBox="1"/>
          <p:nvPr/>
        </p:nvSpPr>
        <p:spPr>
          <a:xfrm>
            <a:off x="4645152" y="2578608"/>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CirrOS</a:t>
            </a:r>
          </a:p>
        </p:txBody>
      </p:sp>
      <p:sp>
        <p:nvSpPr>
          <p:cNvPr id="22" name="TextBox 21"/>
          <p:cNvSpPr txBox="1"/>
          <p:nvPr/>
        </p:nvSpPr>
        <p:spPr>
          <a:xfrm>
            <a:off x="6382512" y="2578608"/>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0.6.2 end hosts</a:t>
            </a:r>
          </a:p>
        </p:txBody>
      </p:sp>
      <p:sp>
        <p:nvSpPr>
          <p:cNvPr id="23" name="TextBox 22"/>
          <p:cNvSpPr txBox="1"/>
          <p:nvPr/>
        </p:nvSpPr>
        <p:spPr>
          <a:xfrm>
            <a:off x="4645152" y="2907791"/>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Ubuntu</a:t>
            </a:r>
          </a:p>
        </p:txBody>
      </p:sp>
      <p:sp>
        <p:nvSpPr>
          <p:cNvPr id="24" name="TextBox 23"/>
          <p:cNvSpPr txBox="1"/>
          <p:nvPr/>
        </p:nvSpPr>
        <p:spPr>
          <a:xfrm>
            <a:off x="6382512" y="2907791"/>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24.04 minimal, NMS</a:t>
            </a:r>
          </a:p>
        </p:txBody>
      </p:sp>
      <p:sp>
        <p:nvSpPr>
          <p:cNvPr id="25" name="Rounded Rectangle 24"/>
          <p:cNvSpPr/>
          <p:nvPr/>
        </p:nvSpPr>
        <p:spPr>
          <a:xfrm>
            <a:off x="8055864" y="1627632"/>
            <a:ext cx="3456432" cy="2029968"/>
          </a:xfrm>
          <a:prstGeom prst="roundRect">
            <a:avLst>
              <a:gd name="adj" fmla="val 4054"/>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311896" y="1901952"/>
            <a:ext cx="100584" cy="100584"/>
          </a:xfrm>
          <a:prstGeom prst="roundRect">
            <a:avLst>
              <a:gd name="adj" fmla="val 50000"/>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13064" y="1810512"/>
            <a:ext cx="2834640" cy="274320"/>
          </a:xfrm>
          <a:prstGeom prst="rect">
            <a:avLst/>
          </a:prstGeom>
          <a:noFill/>
        </p:spPr>
        <p:txBody>
          <a:bodyPr wrap="square" lIns="0" rIns="0" tIns="0" bIns="0" anchor="t">
            <a:spAutoFit/>
          </a:bodyPr>
          <a:lstStyle/>
          <a:p>
            <a:pPr algn="l">
              <a:lnSpc>
                <a:spcPct val="122000"/>
              </a:lnSpc>
            </a:pPr>
            <a:r>
              <a:rPr sz="1400" b="1" i="0">
                <a:solidFill>
                  <a:srgbClr val="16232B"/>
                </a:solidFill>
                <a:latin typeface="Cambria"/>
              </a:rPr>
              <a:t>Test harness</a:t>
            </a:r>
          </a:p>
        </p:txBody>
      </p:sp>
      <p:sp>
        <p:nvSpPr>
          <p:cNvPr id="28" name="TextBox 27"/>
          <p:cNvSpPr txBox="1"/>
          <p:nvPr/>
        </p:nvSpPr>
        <p:spPr>
          <a:xfrm>
            <a:off x="8330184" y="2249424"/>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Robot Framework</a:t>
            </a:r>
          </a:p>
        </p:txBody>
      </p:sp>
      <p:sp>
        <p:nvSpPr>
          <p:cNvPr id="29" name="TextBox 28"/>
          <p:cNvSpPr txBox="1"/>
          <p:nvPr/>
        </p:nvSpPr>
        <p:spPr>
          <a:xfrm>
            <a:off x="10067544" y="2249424"/>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7.3.2</a:t>
            </a:r>
          </a:p>
        </p:txBody>
      </p:sp>
      <p:sp>
        <p:nvSpPr>
          <p:cNvPr id="30" name="TextBox 29"/>
          <p:cNvSpPr txBox="1"/>
          <p:nvPr/>
        </p:nvSpPr>
        <p:spPr>
          <a:xfrm>
            <a:off x="8330184" y="2578608"/>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Python</a:t>
            </a:r>
          </a:p>
        </p:txBody>
      </p:sp>
      <p:sp>
        <p:nvSpPr>
          <p:cNvPr id="31" name="TextBox 30"/>
          <p:cNvSpPr txBox="1"/>
          <p:nvPr/>
        </p:nvSpPr>
        <p:spPr>
          <a:xfrm>
            <a:off x="10067544" y="2578608"/>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3.14.4</a:t>
            </a:r>
          </a:p>
        </p:txBody>
      </p:sp>
      <p:sp>
        <p:nvSpPr>
          <p:cNvPr id="32" name="TextBox 31"/>
          <p:cNvSpPr txBox="1"/>
          <p:nvPr/>
        </p:nvSpPr>
        <p:spPr>
          <a:xfrm>
            <a:off x="8330184" y="2907791"/>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Paramiko / SSHLibrary</a:t>
            </a:r>
          </a:p>
        </p:txBody>
      </p:sp>
      <p:sp>
        <p:nvSpPr>
          <p:cNvPr id="33" name="TextBox 32"/>
          <p:cNvSpPr txBox="1"/>
          <p:nvPr/>
        </p:nvSpPr>
        <p:spPr>
          <a:xfrm>
            <a:off x="10067544" y="2907791"/>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device sessions</a:t>
            </a:r>
          </a:p>
        </p:txBody>
      </p:sp>
      <p:sp>
        <p:nvSpPr>
          <p:cNvPr id="34" name="TextBox 33"/>
          <p:cNvSpPr txBox="1"/>
          <p:nvPr/>
        </p:nvSpPr>
        <p:spPr>
          <a:xfrm>
            <a:off x="8330184" y="3236975"/>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pyATS + Genie</a:t>
            </a:r>
          </a:p>
        </p:txBody>
      </p:sp>
      <p:sp>
        <p:nvSpPr>
          <p:cNvPr id="35" name="TextBox 34"/>
          <p:cNvSpPr txBox="1"/>
          <p:nvPr/>
        </p:nvSpPr>
        <p:spPr>
          <a:xfrm>
            <a:off x="10067544" y="3236975"/>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26.8, parsers</a:t>
            </a:r>
          </a:p>
        </p:txBody>
      </p:sp>
      <p:sp>
        <p:nvSpPr>
          <p:cNvPr id="36" name="Rounded Rectangle 35"/>
          <p:cNvSpPr/>
          <p:nvPr/>
        </p:nvSpPr>
        <p:spPr>
          <a:xfrm>
            <a:off x="685800" y="3840480"/>
            <a:ext cx="3456432" cy="2029968"/>
          </a:xfrm>
          <a:prstGeom prst="roundRect">
            <a:avLst>
              <a:gd name="adj" fmla="val 4054"/>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41832" y="4114800"/>
            <a:ext cx="100584" cy="100584"/>
          </a:xfrm>
          <a:prstGeom prst="roundRect">
            <a:avLst>
              <a:gd name="adj" fmla="val 50000"/>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43000" y="4023360"/>
            <a:ext cx="2834640" cy="274320"/>
          </a:xfrm>
          <a:prstGeom prst="rect">
            <a:avLst/>
          </a:prstGeom>
          <a:noFill/>
        </p:spPr>
        <p:txBody>
          <a:bodyPr wrap="square" lIns="0" rIns="0" tIns="0" bIns="0" anchor="t">
            <a:spAutoFit/>
          </a:bodyPr>
          <a:lstStyle/>
          <a:p>
            <a:pPr algn="l">
              <a:lnSpc>
                <a:spcPct val="122000"/>
              </a:lnSpc>
            </a:pPr>
            <a:r>
              <a:rPr sz="1400" b="1" i="0">
                <a:solidFill>
                  <a:srgbClr val="16232B"/>
                </a:solidFill>
                <a:latin typeface="Cambria"/>
              </a:rPr>
              <a:t>Protocol tooling</a:t>
            </a:r>
          </a:p>
        </p:txBody>
      </p:sp>
      <p:sp>
        <p:nvSpPr>
          <p:cNvPr id="39" name="TextBox 38"/>
          <p:cNvSpPr txBox="1"/>
          <p:nvPr/>
        </p:nvSpPr>
        <p:spPr>
          <a:xfrm>
            <a:off x="960120" y="4462272"/>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pysnmp</a:t>
            </a:r>
          </a:p>
        </p:txBody>
      </p:sp>
      <p:sp>
        <p:nvSpPr>
          <p:cNvPr id="40" name="TextBox 39"/>
          <p:cNvSpPr txBox="1"/>
          <p:nvPr/>
        </p:nvSpPr>
        <p:spPr>
          <a:xfrm>
            <a:off x="2697480" y="4462272"/>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7.1.22</a:t>
            </a:r>
          </a:p>
        </p:txBody>
      </p:sp>
      <p:sp>
        <p:nvSpPr>
          <p:cNvPr id="41" name="TextBox 40"/>
          <p:cNvSpPr txBox="1"/>
          <p:nvPr/>
        </p:nvSpPr>
        <p:spPr>
          <a:xfrm>
            <a:off x="960120" y="4791456"/>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ncclient</a:t>
            </a:r>
          </a:p>
        </p:txBody>
      </p:sp>
      <p:sp>
        <p:nvSpPr>
          <p:cNvPr id="42" name="TextBox 41"/>
          <p:cNvSpPr txBox="1"/>
          <p:nvPr/>
        </p:nvSpPr>
        <p:spPr>
          <a:xfrm>
            <a:off x="2697480" y="4791456"/>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0.7.1, NETCONF</a:t>
            </a:r>
          </a:p>
        </p:txBody>
      </p:sp>
      <p:sp>
        <p:nvSpPr>
          <p:cNvPr id="43" name="TextBox 42"/>
          <p:cNvSpPr txBox="1"/>
          <p:nvPr/>
        </p:nvSpPr>
        <p:spPr>
          <a:xfrm>
            <a:off x="960120" y="5120640"/>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requests</a:t>
            </a:r>
          </a:p>
        </p:txBody>
      </p:sp>
      <p:sp>
        <p:nvSpPr>
          <p:cNvPr id="44" name="TextBox 43"/>
          <p:cNvSpPr txBox="1"/>
          <p:nvPr/>
        </p:nvSpPr>
        <p:spPr>
          <a:xfrm>
            <a:off x="2697480" y="5120640"/>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2.34, RESTCONF</a:t>
            </a:r>
          </a:p>
        </p:txBody>
      </p:sp>
      <p:sp>
        <p:nvSpPr>
          <p:cNvPr id="45" name="TextBox 44"/>
          <p:cNvSpPr txBox="1"/>
          <p:nvPr/>
        </p:nvSpPr>
        <p:spPr>
          <a:xfrm>
            <a:off x="960120" y="5449824"/>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reportlab</a:t>
            </a:r>
          </a:p>
        </p:txBody>
      </p:sp>
      <p:sp>
        <p:nvSpPr>
          <p:cNvPr id="46" name="TextBox 45"/>
          <p:cNvSpPr txBox="1"/>
          <p:nvPr/>
        </p:nvSpPr>
        <p:spPr>
          <a:xfrm>
            <a:off x="2697480" y="5449824"/>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5.0.1, reports</a:t>
            </a:r>
          </a:p>
        </p:txBody>
      </p:sp>
      <p:sp>
        <p:nvSpPr>
          <p:cNvPr id="47" name="Rounded Rectangle 46"/>
          <p:cNvSpPr/>
          <p:nvPr/>
        </p:nvSpPr>
        <p:spPr>
          <a:xfrm>
            <a:off x="4370832" y="3840480"/>
            <a:ext cx="3456432" cy="2029968"/>
          </a:xfrm>
          <a:prstGeom prst="roundRect">
            <a:avLst>
              <a:gd name="adj" fmla="val 4054"/>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626864" y="4114800"/>
            <a:ext cx="100584" cy="100584"/>
          </a:xfrm>
          <a:prstGeom prst="roundRect">
            <a:avLst>
              <a:gd name="adj" fmla="val 50000"/>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28032" y="4023360"/>
            <a:ext cx="2834640" cy="274320"/>
          </a:xfrm>
          <a:prstGeom prst="rect">
            <a:avLst/>
          </a:prstGeom>
          <a:noFill/>
        </p:spPr>
        <p:txBody>
          <a:bodyPr wrap="square" lIns="0" rIns="0" tIns="0" bIns="0" anchor="t">
            <a:spAutoFit/>
          </a:bodyPr>
          <a:lstStyle/>
          <a:p>
            <a:pPr algn="l">
              <a:lnSpc>
                <a:spcPct val="122000"/>
              </a:lnSpc>
            </a:pPr>
            <a:r>
              <a:rPr sz="1400" b="1" i="0">
                <a:solidFill>
                  <a:srgbClr val="16232B"/>
                </a:solidFill>
                <a:latin typeface="Cambria"/>
              </a:rPr>
              <a:t>Management services</a:t>
            </a:r>
          </a:p>
        </p:txBody>
      </p:sp>
      <p:sp>
        <p:nvSpPr>
          <p:cNvPr id="50" name="TextBox 49"/>
          <p:cNvSpPr txBox="1"/>
          <p:nvPr/>
        </p:nvSpPr>
        <p:spPr>
          <a:xfrm>
            <a:off x="4645152" y="4462272"/>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rsyslog</a:t>
            </a:r>
          </a:p>
        </p:txBody>
      </p:sp>
      <p:sp>
        <p:nvSpPr>
          <p:cNvPr id="51" name="TextBox 50"/>
          <p:cNvSpPr txBox="1"/>
          <p:nvPr/>
        </p:nvSpPr>
        <p:spPr>
          <a:xfrm>
            <a:off x="6382512" y="4462272"/>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log collection</a:t>
            </a:r>
          </a:p>
        </p:txBody>
      </p:sp>
      <p:sp>
        <p:nvSpPr>
          <p:cNvPr id="52" name="TextBox 51"/>
          <p:cNvSpPr txBox="1"/>
          <p:nvPr/>
        </p:nvSpPr>
        <p:spPr>
          <a:xfrm>
            <a:off x="4645152" y="4791456"/>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snmptrapd</a:t>
            </a:r>
          </a:p>
        </p:txBody>
      </p:sp>
      <p:sp>
        <p:nvSpPr>
          <p:cNvPr id="53" name="TextBox 52"/>
          <p:cNvSpPr txBox="1"/>
          <p:nvPr/>
        </p:nvSpPr>
        <p:spPr>
          <a:xfrm>
            <a:off x="6382512" y="4791456"/>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trap receiver</a:t>
            </a:r>
          </a:p>
        </p:txBody>
      </p:sp>
      <p:sp>
        <p:nvSpPr>
          <p:cNvPr id="54" name="TextBox 53"/>
          <p:cNvSpPr txBox="1"/>
          <p:nvPr/>
        </p:nvSpPr>
        <p:spPr>
          <a:xfrm>
            <a:off x="4645152" y="5120640"/>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chrony</a:t>
            </a:r>
          </a:p>
        </p:txBody>
      </p:sp>
      <p:sp>
        <p:nvSpPr>
          <p:cNvPr id="55" name="TextBox 54"/>
          <p:cNvSpPr txBox="1"/>
          <p:nvPr/>
        </p:nvSpPr>
        <p:spPr>
          <a:xfrm>
            <a:off x="6382512" y="5120640"/>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NTP server</a:t>
            </a:r>
          </a:p>
        </p:txBody>
      </p:sp>
      <p:sp>
        <p:nvSpPr>
          <p:cNvPr id="56" name="TextBox 55"/>
          <p:cNvSpPr txBox="1"/>
          <p:nvPr/>
        </p:nvSpPr>
        <p:spPr>
          <a:xfrm>
            <a:off x="4645152" y="5449824"/>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tac_plus</a:t>
            </a:r>
          </a:p>
        </p:txBody>
      </p:sp>
      <p:sp>
        <p:nvSpPr>
          <p:cNvPr id="57" name="TextBox 56"/>
          <p:cNvSpPr txBox="1"/>
          <p:nvPr/>
        </p:nvSpPr>
        <p:spPr>
          <a:xfrm>
            <a:off x="6382512" y="5449824"/>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TACACS+ server</a:t>
            </a:r>
          </a:p>
        </p:txBody>
      </p:sp>
      <p:sp>
        <p:nvSpPr>
          <p:cNvPr id="58" name="Rounded Rectangle 57"/>
          <p:cNvSpPr/>
          <p:nvPr/>
        </p:nvSpPr>
        <p:spPr>
          <a:xfrm>
            <a:off x="8055864" y="3840480"/>
            <a:ext cx="3456432" cy="2029968"/>
          </a:xfrm>
          <a:prstGeom prst="roundRect">
            <a:avLst>
              <a:gd name="adj" fmla="val 4054"/>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311896" y="4114800"/>
            <a:ext cx="100584" cy="100584"/>
          </a:xfrm>
          <a:prstGeom prst="roundRect">
            <a:avLst>
              <a:gd name="adj" fmla="val 50000"/>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13064" y="4023360"/>
            <a:ext cx="2834640" cy="274320"/>
          </a:xfrm>
          <a:prstGeom prst="rect">
            <a:avLst/>
          </a:prstGeom>
          <a:noFill/>
        </p:spPr>
        <p:txBody>
          <a:bodyPr wrap="square" lIns="0" rIns="0" tIns="0" bIns="0" anchor="t">
            <a:spAutoFit/>
          </a:bodyPr>
          <a:lstStyle/>
          <a:p>
            <a:pPr algn="l">
              <a:lnSpc>
                <a:spcPct val="122000"/>
              </a:lnSpc>
            </a:pPr>
            <a:r>
              <a:rPr sz="1400" b="1" i="0">
                <a:solidFill>
                  <a:srgbClr val="16232B"/>
                </a:solidFill>
                <a:latin typeface="Cambria"/>
              </a:rPr>
              <a:t>Reporting</a:t>
            </a:r>
          </a:p>
        </p:txBody>
      </p:sp>
      <p:sp>
        <p:nvSpPr>
          <p:cNvPr id="61" name="TextBox 60"/>
          <p:cNvSpPr txBox="1"/>
          <p:nvPr/>
        </p:nvSpPr>
        <p:spPr>
          <a:xfrm>
            <a:off x="8330184" y="4462272"/>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Robot log + report</a:t>
            </a:r>
          </a:p>
        </p:txBody>
      </p:sp>
      <p:sp>
        <p:nvSpPr>
          <p:cNvPr id="62" name="TextBox 61"/>
          <p:cNvSpPr txBox="1"/>
          <p:nvPr/>
        </p:nvSpPr>
        <p:spPr>
          <a:xfrm>
            <a:off x="10067544" y="4462272"/>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HTML</a:t>
            </a:r>
          </a:p>
        </p:txBody>
      </p:sp>
      <p:sp>
        <p:nvSpPr>
          <p:cNvPr id="63" name="TextBox 62"/>
          <p:cNvSpPr txBox="1"/>
          <p:nvPr/>
        </p:nvSpPr>
        <p:spPr>
          <a:xfrm>
            <a:off x="8330184" y="4791456"/>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Evidence PDF</a:t>
            </a:r>
          </a:p>
        </p:txBody>
      </p:sp>
      <p:sp>
        <p:nvSpPr>
          <p:cNvPr id="64" name="TextBox 63"/>
          <p:cNvSpPr txBox="1"/>
          <p:nvPr/>
        </p:nvSpPr>
        <p:spPr>
          <a:xfrm>
            <a:off x="10067544" y="4791456"/>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numbered, per test</a:t>
            </a:r>
          </a:p>
        </p:txBody>
      </p:sp>
      <p:sp>
        <p:nvSpPr>
          <p:cNvPr id="65" name="TextBox 64"/>
          <p:cNvSpPr txBox="1"/>
          <p:nvPr/>
        </p:nvSpPr>
        <p:spPr>
          <a:xfrm>
            <a:off x="8330184" y="5120640"/>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Topology PDF</a:t>
            </a:r>
          </a:p>
        </p:txBody>
      </p:sp>
      <p:sp>
        <p:nvSpPr>
          <p:cNvPr id="66" name="TextBox 65"/>
          <p:cNvSpPr txBox="1"/>
          <p:nvPr/>
        </p:nvSpPr>
        <p:spPr>
          <a:xfrm>
            <a:off x="10067544" y="5120640"/>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generated diagram</a:t>
            </a:r>
          </a:p>
        </p:txBody>
      </p:sp>
      <p:sp>
        <p:nvSpPr>
          <p:cNvPr id="67" name="TextBox 66"/>
          <p:cNvSpPr txBox="1"/>
          <p:nvPr/>
        </p:nvSpPr>
        <p:spPr>
          <a:xfrm>
            <a:off x="8330184" y="5449824"/>
            <a:ext cx="1828800" cy="256032"/>
          </a:xfrm>
          <a:prstGeom prst="rect">
            <a:avLst/>
          </a:prstGeom>
          <a:noFill/>
        </p:spPr>
        <p:txBody>
          <a:bodyPr wrap="square" lIns="0" rIns="0" tIns="0" bIns="0" anchor="ctr">
            <a:spAutoFit/>
          </a:bodyPr>
          <a:lstStyle/>
          <a:p>
            <a:pPr algn="l">
              <a:lnSpc>
                <a:spcPct val="122000"/>
              </a:lnSpc>
            </a:pPr>
            <a:r>
              <a:rPr sz="1100" b="1" i="0">
                <a:solidFill>
                  <a:srgbClr val="16232B"/>
                </a:solidFill>
                <a:latin typeface="Calibri"/>
              </a:rPr>
              <a:t>Headless Chrome</a:t>
            </a:r>
          </a:p>
        </p:txBody>
      </p:sp>
      <p:sp>
        <p:nvSpPr>
          <p:cNvPr id="68" name="TextBox 67"/>
          <p:cNvSpPr txBox="1"/>
          <p:nvPr/>
        </p:nvSpPr>
        <p:spPr>
          <a:xfrm>
            <a:off x="10067544" y="5449824"/>
            <a:ext cx="1243584" cy="256032"/>
          </a:xfrm>
          <a:prstGeom prst="rect">
            <a:avLst/>
          </a:prstGeom>
          <a:noFill/>
        </p:spPr>
        <p:txBody>
          <a:bodyPr wrap="square" lIns="0" rIns="0" tIns="0" bIns="0" anchor="ctr">
            <a:spAutoFit/>
          </a:bodyPr>
          <a:lstStyle/>
          <a:p>
            <a:pPr algn="r">
              <a:lnSpc>
                <a:spcPct val="122000"/>
              </a:lnSpc>
            </a:pPr>
            <a:r>
              <a:rPr sz="1000" b="0" i="0">
                <a:solidFill>
                  <a:srgbClr val="62798A"/>
                </a:solidFill>
                <a:latin typeface="Calibri"/>
              </a:rPr>
              <a:t>HTML to PDF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What every run leaves behind</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A timestamped archive, so any past result can be re-examined rather than recalled</a:t>
            </a:r>
          </a:p>
        </p:txBody>
      </p:sp>
      <p:sp>
        <p:nvSpPr>
          <p:cNvPr id="5" name="Rounded Rectangle 4"/>
          <p:cNvSpPr/>
          <p:nvPr/>
        </p:nvSpPr>
        <p:spPr>
          <a:xfrm>
            <a:off x="685800" y="1627632"/>
            <a:ext cx="5285232" cy="1389888"/>
          </a:xfrm>
          <a:prstGeom prst="roundRect">
            <a:avLst>
              <a:gd name="adj" fmla="val 592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901952"/>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1288" y="1810512"/>
            <a:ext cx="4507992"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Numbered evidence PDF</a:t>
            </a:r>
          </a:p>
        </p:txBody>
      </p:sp>
      <p:sp>
        <p:nvSpPr>
          <p:cNvPr id="8" name="TextBox 7"/>
          <p:cNvSpPr txBox="1"/>
          <p:nvPr/>
        </p:nvSpPr>
        <p:spPr>
          <a:xfrm>
            <a:off x="960120" y="2194560"/>
            <a:ext cx="4736592" cy="658368"/>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Each of the 215 tests appears as a numbered entry — 23.01, 23.02 and so on — with its setup, acceptance criteria, the commands that checked it, and its teardown.</a:t>
            </a:r>
          </a:p>
        </p:txBody>
      </p:sp>
      <p:sp>
        <p:nvSpPr>
          <p:cNvPr id="9" name="Rounded Rectangle 8"/>
          <p:cNvSpPr/>
          <p:nvPr/>
        </p:nvSpPr>
        <p:spPr>
          <a:xfrm>
            <a:off x="6217920" y="1627632"/>
            <a:ext cx="5285232" cy="1389888"/>
          </a:xfrm>
          <a:prstGeom prst="roundRect">
            <a:avLst>
              <a:gd name="adj" fmla="val 592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901952"/>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93408" y="1810512"/>
            <a:ext cx="4507992"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Device state captures</a:t>
            </a:r>
          </a:p>
        </p:txBody>
      </p:sp>
      <p:sp>
        <p:nvSpPr>
          <p:cNvPr id="12" name="TextBox 11"/>
          <p:cNvSpPr txBox="1"/>
          <p:nvPr/>
        </p:nvSpPr>
        <p:spPr>
          <a:xfrm>
            <a:off x="6492240" y="2194560"/>
            <a:ext cx="4736592" cy="658368"/>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Running configuration, routing and BGP tables, crypto sessions, NAT translations, NTP and SNMP state, taken from every router at the same point in the run.</a:t>
            </a:r>
          </a:p>
        </p:txBody>
      </p:sp>
      <p:sp>
        <p:nvSpPr>
          <p:cNvPr id="13" name="Rounded Rectangle 12"/>
          <p:cNvSpPr/>
          <p:nvPr/>
        </p:nvSpPr>
        <p:spPr>
          <a:xfrm>
            <a:off x="685800" y="3200400"/>
            <a:ext cx="5285232" cy="1389888"/>
          </a:xfrm>
          <a:prstGeom prst="roundRect">
            <a:avLst>
              <a:gd name="adj" fmla="val 592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0120" y="3474720"/>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3383280"/>
            <a:ext cx="4507992"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Management server evidence</a:t>
            </a:r>
          </a:p>
        </p:txBody>
      </p:sp>
      <p:sp>
        <p:nvSpPr>
          <p:cNvPr id="16" name="TextBox 15"/>
          <p:cNvSpPr txBox="1"/>
          <p:nvPr/>
        </p:nvSpPr>
        <p:spPr>
          <a:xfrm>
            <a:off x="960120" y="3767328"/>
            <a:ext cx="4736592" cy="658368"/>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Syslog received, SNMP polling output and trap records, collected from the NMS rather than from the device that claims to have sent them.</a:t>
            </a:r>
          </a:p>
        </p:txBody>
      </p:sp>
      <p:sp>
        <p:nvSpPr>
          <p:cNvPr id="17" name="Rounded Rectangle 16"/>
          <p:cNvSpPr/>
          <p:nvPr/>
        </p:nvSpPr>
        <p:spPr>
          <a:xfrm>
            <a:off x="6217920" y="3200400"/>
            <a:ext cx="5285232" cy="1389888"/>
          </a:xfrm>
          <a:prstGeom prst="roundRect">
            <a:avLst>
              <a:gd name="adj" fmla="val 592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92240" y="3474720"/>
            <a:ext cx="100584" cy="100584"/>
          </a:xfrm>
          <a:prstGeom prst="roundRect">
            <a:avLst>
              <a:gd name="adj" fmla="val 50000"/>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3408" y="3383280"/>
            <a:ext cx="4507992" cy="292608"/>
          </a:xfrm>
          <a:prstGeom prst="rect">
            <a:avLst/>
          </a:prstGeom>
          <a:noFill/>
        </p:spPr>
        <p:txBody>
          <a:bodyPr wrap="square" lIns="0" rIns="0" tIns="0" bIns="0" anchor="t">
            <a:spAutoFit/>
          </a:bodyPr>
          <a:lstStyle/>
          <a:p>
            <a:pPr algn="l">
              <a:lnSpc>
                <a:spcPct val="122000"/>
              </a:lnSpc>
            </a:pPr>
            <a:r>
              <a:rPr sz="1450" b="1" i="0">
                <a:solidFill>
                  <a:srgbClr val="16232B"/>
                </a:solidFill>
                <a:latin typeface="Cambria"/>
              </a:rPr>
              <a:t>Robot log and report</a:t>
            </a:r>
          </a:p>
        </p:txBody>
      </p:sp>
      <p:sp>
        <p:nvSpPr>
          <p:cNvPr id="20" name="TextBox 19"/>
          <p:cNvSpPr txBox="1"/>
          <p:nvPr/>
        </p:nvSpPr>
        <p:spPr>
          <a:xfrm>
            <a:off x="6492240" y="3767328"/>
            <a:ext cx="4736592" cy="658368"/>
          </a:xfrm>
          <a:prstGeom prst="rect">
            <a:avLst/>
          </a:prstGeom>
          <a:noFill/>
        </p:spPr>
        <p:txBody>
          <a:bodyPr wrap="square" lIns="0" rIns="0" tIns="0" bIns="0" anchor="t">
            <a:spAutoFit/>
          </a:bodyPr>
          <a:lstStyle/>
          <a:p>
            <a:pPr algn="l">
              <a:lnSpc>
                <a:spcPct val="132000"/>
              </a:lnSpc>
            </a:pPr>
            <a:r>
              <a:rPr sz="1150" b="0" i="0">
                <a:solidFill>
                  <a:srgbClr val="62798A"/>
                </a:solidFill>
                <a:latin typeface="Calibri"/>
              </a:rPr>
              <a:t>Every command and its output, keyword by keyword, for any test that needs to be understood after the fact.</a:t>
            </a:r>
          </a:p>
        </p:txBody>
      </p:sp>
      <p:sp>
        <p:nvSpPr>
          <p:cNvPr id="21" name="Rounded Rectangle 20"/>
          <p:cNvSpPr/>
          <p:nvPr/>
        </p:nvSpPr>
        <p:spPr>
          <a:xfrm>
            <a:off x="685800" y="4864608"/>
            <a:ext cx="10817352" cy="1298448"/>
          </a:xfrm>
          <a:prstGeom prst="roundRect">
            <a:avLst>
              <a:gd name="adj" fmla="val 6338"/>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084064"/>
            <a:ext cx="4023360" cy="292608"/>
          </a:xfrm>
          <a:prstGeom prst="rect">
            <a:avLst/>
          </a:prstGeom>
          <a:noFill/>
        </p:spPr>
        <p:txBody>
          <a:bodyPr wrap="square" lIns="0" rIns="0" tIns="0" bIns="0" anchor="t">
            <a:spAutoFit/>
          </a:bodyPr>
          <a:lstStyle/>
          <a:p>
            <a:pPr algn="l">
              <a:lnSpc>
                <a:spcPct val="122000"/>
              </a:lnSpc>
            </a:pPr>
            <a:r>
              <a:rPr sz="1500" b="1" i="0">
                <a:solidFill>
                  <a:srgbClr val="FFFFFF"/>
                </a:solidFill>
                <a:latin typeface="Cambria"/>
              </a:rPr>
              <a:t>Evidence over recollection</a:t>
            </a:r>
          </a:p>
        </p:txBody>
      </p:sp>
      <p:sp>
        <p:nvSpPr>
          <p:cNvPr id="23" name="TextBox 22"/>
          <p:cNvSpPr txBox="1"/>
          <p:nvPr/>
        </p:nvSpPr>
        <p:spPr>
          <a:xfrm>
            <a:off x="1005840" y="5431536"/>
            <a:ext cx="4754880" cy="603504"/>
          </a:xfrm>
          <a:prstGeom prst="rect">
            <a:avLst/>
          </a:prstGeom>
          <a:noFill/>
        </p:spPr>
        <p:txBody>
          <a:bodyPr wrap="square" lIns="0" rIns="0" tIns="0" bIns="0" anchor="t">
            <a:spAutoFit/>
          </a:bodyPr>
          <a:lstStyle/>
          <a:p>
            <a:pPr algn="l">
              <a:lnSpc>
                <a:spcPct val="130000"/>
              </a:lnSpc>
            </a:pPr>
            <a:r>
              <a:rPr sz="1150" b="0" i="0">
                <a:solidFill>
                  <a:srgbClr val="A9BCC5"/>
                </a:solidFill>
                <a:latin typeface="Calibri"/>
              </a:rPr>
              <a:t>The archive is what lets a result be challenged. Twice this month a suite was found to be passing for the wrong reason — both times by reading the evidence, not by watching a test fail.</a:t>
            </a:r>
          </a:p>
        </p:txBody>
      </p:sp>
      <p:sp>
        <p:nvSpPr>
          <p:cNvPr id="24" name="TextBox 23"/>
          <p:cNvSpPr txBox="1"/>
          <p:nvPr/>
        </p:nvSpPr>
        <p:spPr>
          <a:xfrm>
            <a:off x="6446520" y="5084064"/>
            <a:ext cx="4846320" cy="292608"/>
          </a:xfrm>
          <a:prstGeom prst="rect">
            <a:avLst/>
          </a:prstGeom>
          <a:noFill/>
        </p:spPr>
        <p:txBody>
          <a:bodyPr wrap="square" lIns="0" rIns="0" tIns="0" bIns="0" anchor="t">
            <a:spAutoFit/>
          </a:bodyPr>
          <a:lstStyle/>
          <a:p>
            <a:pPr algn="l">
              <a:lnSpc>
                <a:spcPct val="122000"/>
              </a:lnSpc>
            </a:pPr>
            <a:r>
              <a:rPr sz="1500" b="1" i="0">
                <a:solidFill>
                  <a:srgbClr val="FFFFFF"/>
                </a:solidFill>
                <a:latin typeface="Cambria"/>
              </a:rPr>
              <a:t>One run kept in version control</a:t>
            </a:r>
          </a:p>
        </p:txBody>
      </p:sp>
      <p:sp>
        <p:nvSpPr>
          <p:cNvPr id="25" name="TextBox 24"/>
          <p:cNvSpPr txBox="1"/>
          <p:nvPr/>
        </p:nvSpPr>
        <p:spPr>
          <a:xfrm>
            <a:off x="6446520" y="5431536"/>
            <a:ext cx="4846320" cy="603504"/>
          </a:xfrm>
          <a:prstGeom prst="rect">
            <a:avLst/>
          </a:prstGeom>
          <a:noFill/>
        </p:spPr>
        <p:txBody>
          <a:bodyPr wrap="square" lIns="0" rIns="0" tIns="0" bIns="0" anchor="t">
            <a:spAutoFit/>
          </a:bodyPr>
          <a:lstStyle/>
          <a:p>
            <a:pPr algn="l">
              <a:lnSpc>
                <a:spcPct val="130000"/>
              </a:lnSpc>
            </a:pPr>
            <a:r>
              <a:rPr sz="1150" b="0" i="0">
                <a:solidFill>
                  <a:srgbClr val="A9BCC5"/>
                </a:solidFill>
                <a:latin typeface="Calibri"/>
              </a:rPr>
              <a:t>The repository carries the latest full run as its reference. When the code changes, that archive is regenerated — so the published evidence always matches the tests that produced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FFFFFF"/>
                </a:solidFill>
                <a:latin typeface="Cambria"/>
              </a:rPr>
              <a:t>Breaking it on purpose</a:t>
            </a:r>
          </a:p>
        </p:txBody>
      </p:sp>
      <p:sp>
        <p:nvSpPr>
          <p:cNvPr id="4" name="TextBox 3"/>
          <p:cNvSpPr txBox="1"/>
          <p:nvPr/>
        </p:nvSpPr>
        <p:spPr>
          <a:xfrm>
            <a:off x="685800" y="1042415"/>
            <a:ext cx="10881360" cy="310896"/>
          </a:xfrm>
          <a:prstGeom prst="rect">
            <a:avLst/>
          </a:prstGeom>
          <a:noFill/>
        </p:spPr>
        <p:txBody>
          <a:bodyPr wrap="square" lIns="0" rIns="0" tIns="0" bIns="0" anchor="t">
            <a:spAutoFit/>
          </a:bodyPr>
          <a:lstStyle/>
          <a:p>
            <a:pPr algn="l">
              <a:lnSpc>
                <a:spcPct val="122000"/>
              </a:lnSpc>
            </a:pPr>
            <a:r>
              <a:rPr sz="1400" b="0" i="0">
                <a:solidFill>
                  <a:srgbClr val="8FA6B1"/>
                </a:solidFill>
                <a:latin typeface="Calibri"/>
              </a:rPr>
              <a:t>Seven tests that take the fabric apart while traffic is running, and assert what is still standing</a:t>
            </a:r>
          </a:p>
        </p:txBody>
      </p:sp>
      <p:sp>
        <p:nvSpPr>
          <p:cNvPr id="5" name="Rounded Rectangle 4"/>
          <p:cNvSpPr/>
          <p:nvPr/>
        </p:nvSpPr>
        <p:spPr>
          <a:xfrm>
            <a:off x="685800" y="1645920"/>
            <a:ext cx="5285232" cy="768096"/>
          </a:xfrm>
          <a:prstGeom prst="roundRect">
            <a:avLst>
              <a:gd name="adj" fmla="val 9523"/>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3544" y="1956816"/>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1288" y="1737360"/>
            <a:ext cx="4553712"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Hub loss</a:t>
            </a:r>
          </a:p>
        </p:txBody>
      </p:sp>
      <p:sp>
        <p:nvSpPr>
          <p:cNvPr id="8" name="TextBox 7"/>
          <p:cNvSpPr txBox="1"/>
          <p:nvPr/>
        </p:nvSpPr>
        <p:spPr>
          <a:xfrm>
            <a:off x="1161288" y="2011680"/>
            <a:ext cx="4553712" cy="310896"/>
          </a:xfrm>
          <a:prstGeom prst="rect">
            <a:avLst/>
          </a:prstGeom>
          <a:noFill/>
        </p:spPr>
        <p:txBody>
          <a:bodyPr wrap="square" lIns="0" rIns="0" tIns="0" bIns="0" anchor="t">
            <a:spAutoFit/>
          </a:bodyPr>
          <a:lstStyle/>
          <a:p>
            <a:pPr algn="l">
              <a:lnSpc>
                <a:spcPct val="122000"/>
              </a:lnSpc>
            </a:pPr>
            <a:r>
              <a:rPr sz="1100" b="0" i="0">
                <a:solidFill>
                  <a:srgbClr val="8FA6B1"/>
                </a:solidFill>
                <a:latin typeface="Calibri"/>
              </a:rPr>
              <a:t>The direct spoke-to-spoke tunnel survives — but the routing that used it does not.</a:t>
            </a:r>
          </a:p>
        </p:txBody>
      </p:sp>
      <p:sp>
        <p:nvSpPr>
          <p:cNvPr id="9" name="Rounded Rectangle 8"/>
          <p:cNvSpPr/>
          <p:nvPr/>
        </p:nvSpPr>
        <p:spPr>
          <a:xfrm>
            <a:off x="6217920" y="1645920"/>
            <a:ext cx="5285232" cy="768096"/>
          </a:xfrm>
          <a:prstGeom prst="roundRect">
            <a:avLst>
              <a:gd name="adj" fmla="val 9523"/>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55664" y="1956816"/>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93408" y="1737360"/>
            <a:ext cx="4553712"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Hub recovery</a:t>
            </a:r>
          </a:p>
        </p:txBody>
      </p:sp>
      <p:sp>
        <p:nvSpPr>
          <p:cNvPr id="12" name="TextBox 11"/>
          <p:cNvSpPr txBox="1"/>
          <p:nvPr/>
        </p:nvSpPr>
        <p:spPr>
          <a:xfrm>
            <a:off x="6693408" y="2011680"/>
            <a:ext cx="4553712" cy="310896"/>
          </a:xfrm>
          <a:prstGeom prst="rect">
            <a:avLst/>
          </a:prstGeom>
          <a:noFill/>
        </p:spPr>
        <p:txBody>
          <a:bodyPr wrap="square" lIns="0" rIns="0" tIns="0" bIns="0" anchor="t">
            <a:spAutoFit/>
          </a:bodyPr>
          <a:lstStyle/>
          <a:p>
            <a:pPr algn="l">
              <a:lnSpc>
                <a:spcPct val="122000"/>
              </a:lnSpc>
            </a:pPr>
            <a:r>
              <a:rPr sz="1100" b="0" i="0">
                <a:solidFill>
                  <a:srgbClr val="8FA6B1"/>
                </a:solidFill>
                <a:latin typeface="Calibri"/>
              </a:rPr>
              <a:t>Registration, BGP and the shortcut all return with no operator action.</a:t>
            </a:r>
          </a:p>
        </p:txBody>
      </p:sp>
      <p:sp>
        <p:nvSpPr>
          <p:cNvPr id="13" name="Rounded Rectangle 12"/>
          <p:cNvSpPr/>
          <p:nvPr/>
        </p:nvSpPr>
        <p:spPr>
          <a:xfrm>
            <a:off x="685800" y="2487168"/>
            <a:ext cx="5285232" cy="768096"/>
          </a:xfrm>
          <a:prstGeom prst="roundRect">
            <a:avLst>
              <a:gd name="adj" fmla="val 9523"/>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3544" y="2798064"/>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2578608"/>
            <a:ext cx="4553712"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Underlay partition</a:t>
            </a:r>
          </a:p>
        </p:txBody>
      </p:sp>
      <p:sp>
        <p:nvSpPr>
          <p:cNvPr id="16" name="TextBox 15"/>
          <p:cNvSpPr txBox="1"/>
          <p:nvPr/>
        </p:nvSpPr>
        <p:spPr>
          <a:xfrm>
            <a:off x="1161288" y="2852928"/>
            <a:ext cx="4553712" cy="310896"/>
          </a:xfrm>
          <a:prstGeom prst="rect">
            <a:avLst/>
          </a:prstGeom>
          <a:noFill/>
        </p:spPr>
        <p:txBody>
          <a:bodyPr wrap="square" lIns="0" rIns="0" tIns="0" bIns="0" anchor="t">
            <a:spAutoFit/>
          </a:bodyPr>
          <a:lstStyle/>
          <a:p>
            <a:pPr algn="l">
              <a:lnSpc>
                <a:spcPct val="122000"/>
              </a:lnSpc>
            </a:pPr>
            <a:r>
              <a:rPr sz="1100" b="0" i="0">
                <a:solidFill>
                  <a:srgbClr val="8FA6B1"/>
                </a:solidFill>
                <a:latin typeface="Calibri"/>
              </a:rPr>
              <a:t>Spokes that cannot reach each other fall back through the hub.</a:t>
            </a:r>
          </a:p>
        </p:txBody>
      </p:sp>
      <p:sp>
        <p:nvSpPr>
          <p:cNvPr id="17" name="Rounded Rectangle 16"/>
          <p:cNvSpPr/>
          <p:nvPr/>
        </p:nvSpPr>
        <p:spPr>
          <a:xfrm>
            <a:off x="6217920" y="2487168"/>
            <a:ext cx="5285232" cy="768096"/>
          </a:xfrm>
          <a:prstGeom prst="roundRect">
            <a:avLst>
              <a:gd name="adj" fmla="val 9523"/>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55664" y="2798064"/>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93408" y="2578608"/>
            <a:ext cx="4553712"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NHRP key mismatch</a:t>
            </a:r>
          </a:p>
        </p:txBody>
      </p:sp>
      <p:sp>
        <p:nvSpPr>
          <p:cNvPr id="20" name="TextBox 19"/>
          <p:cNvSpPr txBox="1"/>
          <p:nvPr/>
        </p:nvSpPr>
        <p:spPr>
          <a:xfrm>
            <a:off x="6693408" y="2852928"/>
            <a:ext cx="4553712" cy="310896"/>
          </a:xfrm>
          <a:prstGeom prst="rect">
            <a:avLst/>
          </a:prstGeom>
          <a:noFill/>
        </p:spPr>
        <p:txBody>
          <a:bodyPr wrap="square" lIns="0" rIns="0" tIns="0" bIns="0" anchor="t">
            <a:spAutoFit/>
          </a:bodyPr>
          <a:lstStyle/>
          <a:p>
            <a:pPr algn="l">
              <a:lnSpc>
                <a:spcPct val="122000"/>
              </a:lnSpc>
            </a:pPr>
            <a:r>
              <a:rPr sz="1100" b="0" i="0">
                <a:solidFill>
                  <a:srgbClr val="8FA6B1"/>
                </a:solidFill>
                <a:latin typeface="Calibri"/>
              </a:rPr>
              <a:t>Registration is refused outright.</a:t>
            </a:r>
          </a:p>
        </p:txBody>
      </p:sp>
      <p:sp>
        <p:nvSpPr>
          <p:cNvPr id="21" name="Rounded Rectangle 20"/>
          <p:cNvSpPr/>
          <p:nvPr/>
        </p:nvSpPr>
        <p:spPr>
          <a:xfrm>
            <a:off x="685800" y="3328416"/>
            <a:ext cx="5285232" cy="768096"/>
          </a:xfrm>
          <a:prstGeom prst="roundRect">
            <a:avLst>
              <a:gd name="adj" fmla="val 9523"/>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3544" y="3639312"/>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61288" y="3419856"/>
            <a:ext cx="4553712"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Tunnel key mismatch</a:t>
            </a:r>
          </a:p>
        </p:txBody>
      </p:sp>
      <p:sp>
        <p:nvSpPr>
          <p:cNvPr id="24" name="TextBox 23"/>
          <p:cNvSpPr txBox="1"/>
          <p:nvPr/>
        </p:nvSpPr>
        <p:spPr>
          <a:xfrm>
            <a:off x="1161288" y="3694176"/>
            <a:ext cx="4553712" cy="310896"/>
          </a:xfrm>
          <a:prstGeom prst="rect">
            <a:avLst/>
          </a:prstGeom>
          <a:noFill/>
        </p:spPr>
        <p:txBody>
          <a:bodyPr wrap="square" lIns="0" rIns="0" tIns="0" bIns="0" anchor="t">
            <a:spAutoFit/>
          </a:bodyPr>
          <a:lstStyle/>
          <a:p>
            <a:pPr algn="l">
              <a:lnSpc>
                <a:spcPct val="122000"/>
              </a:lnSpc>
            </a:pPr>
            <a:r>
              <a:rPr sz="1100" b="0" i="0">
                <a:solidFill>
                  <a:srgbClr val="8FA6B1"/>
                </a:solidFill>
                <a:latin typeface="Calibri"/>
              </a:rPr>
              <a:t>Silently discarded — the interface still reports itself up.</a:t>
            </a:r>
          </a:p>
        </p:txBody>
      </p:sp>
      <p:sp>
        <p:nvSpPr>
          <p:cNvPr id="25" name="Rounded Rectangle 24"/>
          <p:cNvSpPr/>
          <p:nvPr/>
        </p:nvSpPr>
        <p:spPr>
          <a:xfrm>
            <a:off x="6217920" y="3328416"/>
            <a:ext cx="5285232" cy="768096"/>
          </a:xfrm>
          <a:prstGeom prst="roundRect">
            <a:avLst>
              <a:gd name="adj" fmla="val 9523"/>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55664" y="3639312"/>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8" y="3419856"/>
            <a:ext cx="4553712"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MTU blackhole</a:t>
            </a:r>
          </a:p>
        </p:txBody>
      </p:sp>
      <p:sp>
        <p:nvSpPr>
          <p:cNvPr id="28" name="TextBox 27"/>
          <p:cNvSpPr txBox="1"/>
          <p:nvPr/>
        </p:nvSpPr>
        <p:spPr>
          <a:xfrm>
            <a:off x="6693408" y="3694176"/>
            <a:ext cx="4553712" cy="310896"/>
          </a:xfrm>
          <a:prstGeom prst="rect">
            <a:avLst/>
          </a:prstGeom>
          <a:noFill/>
        </p:spPr>
        <p:txBody>
          <a:bodyPr wrap="square" lIns="0" rIns="0" tIns="0" bIns="0" anchor="t">
            <a:spAutoFit/>
          </a:bodyPr>
          <a:lstStyle/>
          <a:p>
            <a:pPr algn="l">
              <a:lnSpc>
                <a:spcPct val="122000"/>
              </a:lnSpc>
            </a:pPr>
            <a:r>
              <a:rPr sz="1100" b="0" i="0">
                <a:solidFill>
                  <a:srgbClr val="8FA6B1"/>
                </a:solidFill>
                <a:latin typeface="Calibri"/>
              </a:rPr>
              <a:t>Suppress the too-big message and large traffic fails with no diagnostic.</a:t>
            </a:r>
          </a:p>
        </p:txBody>
      </p:sp>
      <p:sp>
        <p:nvSpPr>
          <p:cNvPr id="29" name="Rounded Rectangle 28"/>
          <p:cNvSpPr/>
          <p:nvPr/>
        </p:nvSpPr>
        <p:spPr>
          <a:xfrm>
            <a:off x="685800" y="4169664"/>
            <a:ext cx="10817352" cy="768096"/>
          </a:xfrm>
          <a:prstGeom prst="roundRect">
            <a:avLst>
              <a:gd name="adj" fmla="val 9523"/>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23544" y="4480560"/>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1288" y="4261104"/>
            <a:ext cx="10085832" cy="256032"/>
          </a:xfrm>
          <a:prstGeom prst="rect">
            <a:avLst/>
          </a:prstGeom>
          <a:noFill/>
        </p:spPr>
        <p:txBody>
          <a:bodyPr wrap="square" lIns="0" rIns="0" tIns="0" bIns="0" anchor="t">
            <a:spAutoFit/>
          </a:bodyPr>
          <a:lstStyle/>
          <a:p>
            <a:pPr algn="l">
              <a:lnSpc>
                <a:spcPct val="122000"/>
              </a:lnSpc>
            </a:pPr>
            <a:r>
              <a:rPr sz="1300" b="1" i="0">
                <a:solidFill>
                  <a:srgbClr val="FFFFFF"/>
                </a:solidFill>
                <a:latin typeface="Cambria"/>
              </a:rPr>
              <a:t>Cache expiry</a:t>
            </a:r>
          </a:p>
        </p:txBody>
      </p:sp>
      <p:sp>
        <p:nvSpPr>
          <p:cNvPr id="32" name="TextBox 31"/>
          <p:cNvSpPr txBox="1"/>
          <p:nvPr/>
        </p:nvSpPr>
        <p:spPr>
          <a:xfrm>
            <a:off x="1161288" y="4535424"/>
            <a:ext cx="10085832" cy="310896"/>
          </a:xfrm>
          <a:prstGeom prst="rect">
            <a:avLst/>
          </a:prstGeom>
          <a:noFill/>
        </p:spPr>
        <p:txBody>
          <a:bodyPr wrap="square" lIns="0" rIns="0" tIns="0" bIns="0" anchor="t">
            <a:spAutoFit/>
          </a:bodyPr>
          <a:lstStyle/>
          <a:p>
            <a:pPr algn="l">
              <a:lnSpc>
                <a:spcPct val="122000"/>
              </a:lnSpc>
            </a:pPr>
            <a:r>
              <a:rPr sz="1100" b="0" i="0">
                <a:solidFill>
                  <a:srgbClr val="8FA6B1"/>
                </a:solidFill>
                <a:latin typeface="Calibri"/>
              </a:rPr>
              <a:t>Shortcuts are soft state and age out when traffic stops justifying them.</a:t>
            </a:r>
          </a:p>
        </p:txBody>
      </p:sp>
      <p:sp>
        <p:nvSpPr>
          <p:cNvPr id="33" name="Rounded Rectangle 32"/>
          <p:cNvSpPr/>
          <p:nvPr/>
        </p:nvSpPr>
        <p:spPr>
          <a:xfrm>
            <a:off x="685800" y="5138928"/>
            <a:ext cx="10817352" cy="1225296"/>
          </a:xfrm>
          <a:prstGeom prst="roundRect">
            <a:avLst>
              <a:gd name="adj" fmla="val 6716"/>
            </a:avLst>
          </a:prstGeom>
          <a:solidFill>
            <a:srgbClr val="01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321808"/>
            <a:ext cx="10241280" cy="274320"/>
          </a:xfrm>
          <a:prstGeom prst="rect">
            <a:avLst/>
          </a:prstGeom>
          <a:noFill/>
        </p:spPr>
        <p:txBody>
          <a:bodyPr wrap="square" lIns="0" rIns="0" tIns="0" bIns="0" anchor="t">
            <a:spAutoFit/>
          </a:bodyPr>
          <a:lstStyle/>
          <a:p>
            <a:pPr algn="l">
              <a:lnSpc>
                <a:spcPct val="122000"/>
              </a:lnSpc>
            </a:pPr>
            <a:r>
              <a:rPr sz="1350" b="1" i="0">
                <a:solidFill>
                  <a:srgbClr val="FFFFFF"/>
                </a:solidFill>
                <a:latin typeface="Cambria"/>
              </a:rPr>
              <a:t>The finding that changed a test</a:t>
            </a:r>
          </a:p>
        </p:txBody>
      </p:sp>
      <p:sp>
        <p:nvSpPr>
          <p:cNvPr id="35" name="TextBox 34"/>
          <p:cNvSpPr txBox="1"/>
          <p:nvPr/>
        </p:nvSpPr>
        <p:spPr>
          <a:xfrm>
            <a:off x="1005840" y="5614416"/>
            <a:ext cx="10241280" cy="640080"/>
          </a:xfrm>
          <a:prstGeom prst="rect">
            <a:avLst/>
          </a:prstGeom>
          <a:noFill/>
        </p:spPr>
        <p:txBody>
          <a:bodyPr wrap="square" lIns="0" rIns="0" tIns="0" bIns="0" anchor="t">
            <a:spAutoFit/>
          </a:bodyPr>
          <a:lstStyle/>
          <a:p>
            <a:pPr algn="l">
              <a:lnSpc>
                <a:spcPct val="126000"/>
              </a:lnSpc>
            </a:pPr>
            <a:r>
              <a:rPr sz="1100" b="0" i="0">
                <a:solidFill>
                  <a:srgbClr val="D5EEEA"/>
                </a:solidFill>
                <a:latin typeface="Calibri"/>
              </a:rPr>
              <a:t>Losing the hub was expected to prove resilience. Probing showed the opposite half is also true: the tunnel survives, but both spokes learn routes only from the hub, so the prefixes withdraw and the healthy tunnel carries nothing. Written as a resilience claim, the test would have passed while saying something false.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75488"/>
            <a:ext cx="10881360" cy="566928"/>
          </a:xfrm>
          <a:prstGeom prst="rect">
            <a:avLst/>
          </a:prstGeom>
          <a:noFill/>
        </p:spPr>
        <p:txBody>
          <a:bodyPr wrap="square" lIns="0" rIns="0" tIns="0" bIns="0" anchor="t">
            <a:spAutoFit/>
          </a:bodyPr>
          <a:lstStyle/>
          <a:p>
            <a:pPr algn="l">
              <a:lnSpc>
                <a:spcPct val="122000"/>
              </a:lnSpc>
            </a:pPr>
            <a:r>
              <a:rPr sz="3200" b="1" i="0">
                <a:solidFill>
                  <a:srgbClr val="16232B"/>
                </a:solidFill>
                <a:latin typeface="Cambria"/>
              </a:rPr>
              <a:t>What the work has caught so far</a:t>
            </a:r>
          </a:p>
        </p:txBody>
      </p:sp>
      <p:sp>
        <p:nvSpPr>
          <p:cNvPr id="4" name="TextBox 3"/>
          <p:cNvSpPr txBox="1"/>
          <p:nvPr/>
        </p:nvSpPr>
        <p:spPr>
          <a:xfrm>
            <a:off x="685800" y="1042416"/>
            <a:ext cx="10881360" cy="310896"/>
          </a:xfrm>
          <a:prstGeom prst="rect">
            <a:avLst/>
          </a:prstGeom>
          <a:noFill/>
        </p:spPr>
        <p:txBody>
          <a:bodyPr wrap="square" lIns="0" rIns="0" tIns="0" bIns="0" anchor="t">
            <a:spAutoFit/>
          </a:bodyPr>
          <a:lstStyle/>
          <a:p>
            <a:pPr algn="l">
              <a:lnSpc>
                <a:spcPct val="122000"/>
              </a:lnSpc>
            </a:pPr>
            <a:r>
              <a:rPr sz="1400" b="0" i="0">
                <a:solidFill>
                  <a:srgbClr val="62798A"/>
                </a:solidFill>
                <a:latin typeface="Calibri"/>
              </a:rPr>
              <a:t>The defects that matter most were in the tests, not in the network</a:t>
            </a:r>
          </a:p>
        </p:txBody>
      </p:sp>
      <p:sp>
        <p:nvSpPr>
          <p:cNvPr id="5" name="Rounded Rectangle 4"/>
          <p:cNvSpPr/>
          <p:nvPr/>
        </p:nvSpPr>
        <p:spPr>
          <a:xfrm>
            <a:off x="685800" y="1627632"/>
            <a:ext cx="10817352" cy="1261872"/>
          </a:xfrm>
          <a:prstGeom prst="roundRect">
            <a:avLst>
              <a:gd name="adj" fmla="val 652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1920240"/>
            <a:ext cx="118872" cy="118872"/>
          </a:xfrm>
          <a:prstGeom prst="ellipse">
            <a:avLst/>
          </a:prstGeom>
          <a:solidFill>
            <a:srgbClr val="C0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1828800"/>
            <a:ext cx="9966960" cy="274320"/>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An assertion that could not fail</a:t>
            </a:r>
          </a:p>
        </p:txBody>
      </p:sp>
      <p:sp>
        <p:nvSpPr>
          <p:cNvPr id="8" name="TextBox 7"/>
          <p:cNvSpPr txBox="1"/>
          <p:nvPr/>
        </p:nvSpPr>
        <p:spPr>
          <a:xfrm>
            <a:off x="1261872" y="2157984"/>
            <a:ext cx="9921240" cy="621792"/>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Two shared keywords proving a ping was lossless checked for the text "0% packet loss" — which is contained in "100% packet loss", and in "20% packet loss". They accepted any loss ending in a zero, across 16 call sites in three suites. Now anchored and fixed in both labs.</a:t>
            </a:r>
          </a:p>
        </p:txBody>
      </p:sp>
      <p:sp>
        <p:nvSpPr>
          <p:cNvPr id="9" name="Rounded Rectangle 8"/>
          <p:cNvSpPr/>
          <p:nvPr/>
        </p:nvSpPr>
        <p:spPr>
          <a:xfrm>
            <a:off x="685800" y="3035808"/>
            <a:ext cx="10817352" cy="1261872"/>
          </a:xfrm>
          <a:prstGeom prst="roundRect">
            <a:avLst>
              <a:gd name="adj" fmla="val 652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0120" y="3328416"/>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61872" y="3236976"/>
            <a:ext cx="9966960" cy="274320"/>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A teardown that finished too early</a:t>
            </a:r>
          </a:p>
        </p:txBody>
      </p:sp>
      <p:sp>
        <p:nvSpPr>
          <p:cNvPr id="12" name="TextBox 11"/>
          <p:cNvSpPr txBox="1"/>
          <p:nvPr/>
        </p:nvSpPr>
        <p:spPr>
          <a:xfrm>
            <a:off x="1261872" y="3566160"/>
            <a:ext cx="9921240" cy="621792"/>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Destructive tests restored the configuration and waited for the tunnel to register — but BGP rides that tunnel and needs about a minute more. Later tests began against a network that looked healthy and carried nothing. Teardowns now wait for traffic to move.</a:t>
            </a:r>
          </a:p>
        </p:txBody>
      </p:sp>
      <p:sp>
        <p:nvSpPr>
          <p:cNvPr id="13" name="Rounded Rectangle 12"/>
          <p:cNvSpPr/>
          <p:nvPr/>
        </p:nvSpPr>
        <p:spPr>
          <a:xfrm>
            <a:off x="685800" y="4443984"/>
            <a:ext cx="10817352" cy="1261872"/>
          </a:xfrm>
          <a:prstGeom prst="roundRect">
            <a:avLst>
              <a:gd name="adj" fmla="val 6521"/>
            </a:avLst>
          </a:prstGeom>
          <a:solidFill>
            <a:srgbClr val="FFFFFF"/>
          </a:solidFill>
          <a:ln w="12700">
            <a:solidFill>
              <a:srgbClr val="D3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736592"/>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61872" y="4645152"/>
            <a:ext cx="9966960" cy="274320"/>
          </a:xfrm>
          <a:prstGeom prst="rect">
            <a:avLst/>
          </a:prstGeom>
          <a:noFill/>
        </p:spPr>
        <p:txBody>
          <a:bodyPr wrap="square" lIns="0" rIns="0" tIns="0" bIns="0" anchor="t">
            <a:spAutoFit/>
          </a:bodyPr>
          <a:lstStyle/>
          <a:p>
            <a:pPr algn="l">
              <a:lnSpc>
                <a:spcPct val="122000"/>
              </a:lnSpc>
            </a:pPr>
            <a:r>
              <a:rPr sz="1500" b="1" i="0">
                <a:solidFill>
                  <a:srgbClr val="16232B"/>
                </a:solidFill>
                <a:latin typeface="Cambria"/>
              </a:rPr>
              <a:t>A control that never applied</a:t>
            </a:r>
          </a:p>
        </p:txBody>
      </p:sp>
      <p:sp>
        <p:nvSpPr>
          <p:cNvPr id="16" name="TextBox 15"/>
          <p:cNvSpPr txBox="1"/>
          <p:nvPr/>
        </p:nvSpPr>
        <p:spPr>
          <a:xfrm>
            <a:off x="1261872" y="4974336"/>
            <a:ext cx="9921240" cy="621792"/>
          </a:xfrm>
          <a:prstGeom prst="rect">
            <a:avLst/>
          </a:prstGeom>
          <a:noFill/>
        </p:spPr>
        <p:txBody>
          <a:bodyPr wrap="square" lIns="0" rIns="0" tIns="0" bIns="0" anchor="t">
            <a:spAutoFit/>
          </a:bodyPr>
          <a:lstStyle/>
          <a:p>
            <a:pPr algn="l">
              <a:lnSpc>
                <a:spcPct val="130000"/>
              </a:lnSpc>
            </a:pPr>
            <a:r>
              <a:rPr sz="1150" b="0" i="0">
                <a:solidFill>
                  <a:srgbClr val="62798A"/>
                </a:solidFill>
                <a:latin typeface="Calibri"/>
              </a:rPr>
              <a:t>An outbound access list was meant to block the router's "fragmentation needed" message. Outbound lists do not filter traffic the router originates, so it did nothing. The message is now suppressed at its source, which is also the more realistic fault.</a:t>
            </a:r>
          </a:p>
        </p:txBody>
      </p:sp>
      <p:sp>
        <p:nvSpPr>
          <p:cNvPr id="17" name="Rounded Rectangle 16"/>
          <p:cNvSpPr/>
          <p:nvPr/>
        </p:nvSpPr>
        <p:spPr>
          <a:xfrm>
            <a:off x="685800" y="5870448"/>
            <a:ext cx="10817352" cy="566928"/>
          </a:xfrm>
          <a:prstGeom prst="roundRect">
            <a:avLst>
              <a:gd name="adj" fmla="val 14516"/>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70448"/>
            <a:ext cx="10241280" cy="566928"/>
          </a:xfrm>
          <a:prstGeom prst="rect">
            <a:avLst/>
          </a:prstGeom>
          <a:noFill/>
        </p:spPr>
        <p:txBody>
          <a:bodyPr wrap="square" lIns="0" rIns="0" tIns="0" bIns="0" anchor="ctr">
            <a:spAutoFit/>
          </a:bodyPr>
          <a:lstStyle/>
          <a:p>
            <a:pPr algn="l">
              <a:lnSpc>
                <a:spcPct val="122000"/>
              </a:lnSpc>
            </a:pPr>
            <a:r>
              <a:rPr sz="1300" b="1" i="0">
                <a:solidFill>
                  <a:srgbClr val="FFFFFF"/>
                </a:solidFill>
                <a:latin typeface="Cambria"/>
              </a:rPr>
              <a:t>A test suite is itself software, and it needs the same scepticism as the network it measures.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017520"/>
          </a:xfrm>
          <a:prstGeom prst="rect">
            <a:avLst/>
          </a:prstGeom>
          <a:solidFill>
            <a:srgbClr val="223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41248"/>
            <a:ext cx="10424160" cy="310896"/>
          </a:xfrm>
          <a:prstGeom prst="rect">
            <a:avLst/>
          </a:prstGeom>
          <a:noFill/>
        </p:spPr>
        <p:txBody>
          <a:bodyPr wrap="square" lIns="0" rIns="0" tIns="0" bIns="0" anchor="t">
            <a:spAutoFit/>
          </a:bodyPr>
          <a:lstStyle/>
          <a:p>
            <a:pPr algn="l">
              <a:lnSpc>
                <a:spcPct val="122000"/>
              </a:lnSpc>
            </a:pPr>
            <a:r>
              <a:rPr sz="1250" b="1" i="0">
                <a:solidFill>
                  <a:srgbClr val="00A896"/>
                </a:solidFill>
                <a:latin typeface="Calibri"/>
              </a:rPr>
              <a:t>WHERE IT STANDS</a:t>
            </a:r>
          </a:p>
        </p:txBody>
      </p:sp>
      <p:sp>
        <p:nvSpPr>
          <p:cNvPr id="5" name="TextBox 4"/>
          <p:cNvSpPr txBox="1"/>
          <p:nvPr/>
        </p:nvSpPr>
        <p:spPr>
          <a:xfrm>
            <a:off x="777240" y="1225296"/>
            <a:ext cx="10424160" cy="658368"/>
          </a:xfrm>
          <a:prstGeom prst="rect">
            <a:avLst/>
          </a:prstGeom>
          <a:noFill/>
        </p:spPr>
        <p:txBody>
          <a:bodyPr wrap="square" lIns="0" rIns="0" tIns="0" bIns="0" anchor="t">
            <a:spAutoFit/>
          </a:bodyPr>
          <a:lstStyle/>
          <a:p>
            <a:pPr algn="l">
              <a:lnSpc>
                <a:spcPct val="122000"/>
              </a:lnSpc>
            </a:pPr>
            <a:r>
              <a:rPr sz="3800" b="1" i="0">
                <a:solidFill>
                  <a:srgbClr val="FFFFFF"/>
                </a:solidFill>
                <a:latin typeface="Cambria"/>
              </a:rPr>
              <a:t>Ready to use, and honest about its limits</a:t>
            </a:r>
          </a:p>
        </p:txBody>
      </p:sp>
      <p:sp>
        <p:nvSpPr>
          <p:cNvPr id="6" name="TextBox 5"/>
          <p:cNvSpPr txBox="1"/>
          <p:nvPr/>
        </p:nvSpPr>
        <p:spPr>
          <a:xfrm>
            <a:off x="777240" y="2048256"/>
            <a:ext cx="9875520" cy="603504"/>
          </a:xfrm>
          <a:prstGeom prst="rect">
            <a:avLst/>
          </a:prstGeom>
          <a:noFill/>
        </p:spPr>
        <p:txBody>
          <a:bodyPr wrap="square" lIns="0" rIns="0" tIns="0" bIns="0" anchor="t">
            <a:spAutoFit/>
          </a:bodyPr>
          <a:lstStyle/>
          <a:p>
            <a:pPr algn="l">
              <a:lnSpc>
                <a:spcPct val="134000"/>
              </a:lnSpc>
            </a:pPr>
            <a:r>
              <a:rPr sz="1400" b="0" i="0">
                <a:solidFill>
                  <a:srgbClr val="B9C7CE"/>
                </a:solidFill>
                <a:latin typeface="Calibri"/>
              </a:rPr>
              <a:t>Both labs are in version control with their reference runs. The DMVPN lab is current and fully green; the VTI lab carries one fix that has not yet been exercised against hardware.</a:t>
            </a:r>
          </a:p>
        </p:txBody>
      </p:sp>
      <p:sp>
        <p:nvSpPr>
          <p:cNvPr id="7" name="TextBox 6"/>
          <p:cNvSpPr txBox="1"/>
          <p:nvPr/>
        </p:nvSpPr>
        <p:spPr>
          <a:xfrm>
            <a:off x="777240" y="3401568"/>
            <a:ext cx="3200400" cy="274320"/>
          </a:xfrm>
          <a:prstGeom prst="rect">
            <a:avLst/>
          </a:prstGeom>
          <a:noFill/>
        </p:spPr>
        <p:txBody>
          <a:bodyPr wrap="square" lIns="0" rIns="0" tIns="0" bIns="0" anchor="t">
            <a:spAutoFit/>
          </a:bodyPr>
          <a:lstStyle/>
          <a:p>
            <a:pPr algn="l">
              <a:lnSpc>
                <a:spcPct val="122000"/>
              </a:lnSpc>
            </a:pPr>
            <a:r>
              <a:rPr sz="1150" b="1" i="0">
                <a:solidFill>
                  <a:srgbClr val="00A896"/>
                </a:solidFill>
                <a:latin typeface="Calibri"/>
              </a:rPr>
              <a:t>COMPLETE</a:t>
            </a:r>
          </a:p>
        </p:txBody>
      </p:sp>
      <p:cxnSp>
        <p:nvCxnSpPr>
          <p:cNvPr id="8" name="Connector 7"/>
          <p:cNvCxnSpPr/>
          <p:nvPr/>
        </p:nvCxnSpPr>
        <p:spPr>
          <a:xfrm>
            <a:off x="777240" y="3712463"/>
            <a:ext cx="3246119" cy="0"/>
          </a:xfrm>
          <a:prstGeom prst="line">
            <a:avLst/>
          </a:prstGeom>
          <a:ln w="12700">
            <a:solidFill>
              <a:srgbClr val="33454F"/>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3816" y="3950207"/>
            <a:ext cx="118872" cy="1188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88136" y="3877056"/>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DMVPN lab: 215 / 215 passing</a:t>
            </a:r>
          </a:p>
        </p:txBody>
      </p:sp>
      <p:sp>
        <p:nvSpPr>
          <p:cNvPr id="11" name="Oval 10"/>
          <p:cNvSpPr/>
          <p:nvPr/>
        </p:nvSpPr>
        <p:spPr>
          <a:xfrm>
            <a:off x="813816" y="4517136"/>
            <a:ext cx="118872" cy="1188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8136" y="4443984"/>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Destructive coverage: 7 scenarios</a:t>
            </a:r>
          </a:p>
        </p:txBody>
      </p:sp>
      <p:sp>
        <p:nvSpPr>
          <p:cNvPr id="13" name="Oval 12"/>
          <p:cNvSpPr/>
          <p:nvPr/>
        </p:nvSpPr>
        <p:spPr>
          <a:xfrm>
            <a:off x="813816" y="5084064"/>
            <a:ext cx="118872" cy="1188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8136" y="5010912"/>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Evidence PDF numbered and structured</a:t>
            </a:r>
          </a:p>
        </p:txBody>
      </p:sp>
      <p:sp>
        <p:nvSpPr>
          <p:cNvPr id="15" name="Oval 14"/>
          <p:cNvSpPr/>
          <p:nvPr/>
        </p:nvSpPr>
        <p:spPr>
          <a:xfrm>
            <a:off x="813816" y="5650992"/>
            <a:ext cx="118872" cy="118872"/>
          </a:xfrm>
          <a:prstGeom prst="ellipse">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88136" y="5577840"/>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Both repositories pushed</a:t>
            </a:r>
          </a:p>
        </p:txBody>
      </p:sp>
      <p:sp>
        <p:nvSpPr>
          <p:cNvPr id="17" name="TextBox 16"/>
          <p:cNvSpPr txBox="1"/>
          <p:nvPr/>
        </p:nvSpPr>
        <p:spPr>
          <a:xfrm>
            <a:off x="4389120" y="3401568"/>
            <a:ext cx="3200400" cy="274320"/>
          </a:xfrm>
          <a:prstGeom prst="rect">
            <a:avLst/>
          </a:prstGeom>
          <a:noFill/>
        </p:spPr>
        <p:txBody>
          <a:bodyPr wrap="square" lIns="0" rIns="0" tIns="0" bIns="0" anchor="t">
            <a:spAutoFit/>
          </a:bodyPr>
          <a:lstStyle/>
          <a:p>
            <a:pPr algn="l">
              <a:lnSpc>
                <a:spcPct val="122000"/>
              </a:lnSpc>
            </a:pPr>
            <a:r>
              <a:rPr sz="1150" b="1" i="0">
                <a:solidFill>
                  <a:srgbClr val="E0A458"/>
                </a:solidFill>
                <a:latin typeface="Calibri"/>
              </a:rPr>
              <a:t>OPEN</a:t>
            </a:r>
          </a:p>
        </p:txBody>
      </p:sp>
      <p:cxnSp>
        <p:nvCxnSpPr>
          <p:cNvPr id="18" name="Connector 17"/>
          <p:cNvCxnSpPr/>
          <p:nvPr/>
        </p:nvCxnSpPr>
        <p:spPr>
          <a:xfrm>
            <a:off x="4389120" y="3712463"/>
            <a:ext cx="3246120" cy="0"/>
          </a:xfrm>
          <a:prstGeom prst="line">
            <a:avLst/>
          </a:prstGeom>
          <a:ln w="12700">
            <a:solidFill>
              <a:srgbClr val="33454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425696" y="3950207"/>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16" y="3877056"/>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VTI lab fix committed but not re-run</a:t>
            </a:r>
          </a:p>
        </p:txBody>
      </p:sp>
      <p:sp>
        <p:nvSpPr>
          <p:cNvPr id="21" name="Oval 20"/>
          <p:cNvSpPr/>
          <p:nvPr/>
        </p:nvSpPr>
        <p:spPr>
          <a:xfrm>
            <a:off x="4425696" y="4517136"/>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0016" y="4443984"/>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Two labs cannot run at once — 25.8 GB each</a:t>
            </a:r>
          </a:p>
        </p:txBody>
      </p:sp>
      <p:sp>
        <p:nvSpPr>
          <p:cNvPr id="23" name="Oval 22"/>
          <p:cNvSpPr/>
          <p:nvPr/>
        </p:nvSpPr>
        <p:spPr>
          <a:xfrm>
            <a:off x="4425696" y="5084064"/>
            <a:ext cx="118872" cy="118872"/>
          </a:xfrm>
          <a:prstGeom prst="ellipse">
            <a:avLst/>
          </a:prstGeom>
          <a:solidFill>
            <a:srgbClr val="E0A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0016" y="5010912"/>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Reference archive is ~86 MB per swap</a:t>
            </a:r>
          </a:p>
        </p:txBody>
      </p:sp>
      <p:sp>
        <p:nvSpPr>
          <p:cNvPr id="25" name="TextBox 24"/>
          <p:cNvSpPr txBox="1"/>
          <p:nvPr/>
        </p:nvSpPr>
        <p:spPr>
          <a:xfrm>
            <a:off x="8001000" y="3401568"/>
            <a:ext cx="3200400" cy="274320"/>
          </a:xfrm>
          <a:prstGeom prst="rect">
            <a:avLst/>
          </a:prstGeom>
          <a:noFill/>
        </p:spPr>
        <p:txBody>
          <a:bodyPr wrap="square" lIns="0" rIns="0" tIns="0" bIns="0" anchor="t">
            <a:spAutoFit/>
          </a:bodyPr>
          <a:lstStyle/>
          <a:p>
            <a:pPr algn="l">
              <a:lnSpc>
                <a:spcPct val="122000"/>
              </a:lnSpc>
            </a:pPr>
            <a:r>
              <a:rPr sz="1150" b="1" i="0">
                <a:solidFill>
                  <a:srgbClr val="FFFFFF"/>
                </a:solidFill>
                <a:latin typeface="Calibri"/>
              </a:rPr>
              <a:t>NEXT</a:t>
            </a:r>
          </a:p>
        </p:txBody>
      </p:sp>
      <p:cxnSp>
        <p:nvCxnSpPr>
          <p:cNvPr id="26" name="Connector 25"/>
          <p:cNvCxnSpPr/>
          <p:nvPr/>
        </p:nvCxnSpPr>
        <p:spPr>
          <a:xfrm>
            <a:off x="8001000" y="3712463"/>
            <a:ext cx="3246120" cy="0"/>
          </a:xfrm>
          <a:prstGeom prst="line">
            <a:avLst/>
          </a:prstGeom>
          <a:ln w="12700">
            <a:solidFill>
              <a:srgbClr val="33454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037575" y="3950207"/>
            <a:ext cx="118872" cy="1188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11896" y="3877056"/>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Bring the VTI lab up and re-verify</a:t>
            </a:r>
          </a:p>
        </p:txBody>
      </p:sp>
      <p:sp>
        <p:nvSpPr>
          <p:cNvPr id="29" name="Oval 28"/>
          <p:cNvSpPr/>
          <p:nvPr/>
        </p:nvSpPr>
        <p:spPr>
          <a:xfrm>
            <a:off x="8037575" y="4517136"/>
            <a:ext cx="118872" cy="1188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1896" y="4443984"/>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Decide whether raw run data stays in git</a:t>
            </a:r>
          </a:p>
        </p:txBody>
      </p:sp>
      <p:sp>
        <p:nvSpPr>
          <p:cNvPr id="31" name="Oval 30"/>
          <p:cNvSpPr/>
          <p:nvPr/>
        </p:nvSpPr>
        <p:spPr>
          <a:xfrm>
            <a:off x="8037575" y="5084064"/>
            <a:ext cx="118872" cy="11887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5010912"/>
            <a:ext cx="2926080" cy="512064"/>
          </a:xfrm>
          <a:prstGeom prst="rect">
            <a:avLst/>
          </a:prstGeom>
          <a:noFill/>
        </p:spPr>
        <p:txBody>
          <a:bodyPr wrap="square" lIns="0" rIns="0" tIns="0" bIns="0" anchor="t">
            <a:spAutoFit/>
          </a:bodyPr>
          <a:lstStyle/>
          <a:p>
            <a:pPr algn="l">
              <a:lnSpc>
                <a:spcPct val="126000"/>
              </a:lnSpc>
            </a:pPr>
            <a:r>
              <a:rPr sz="1150" b="0" i="0">
                <a:solidFill>
                  <a:srgbClr val="B9C7CE"/>
                </a:solidFill>
                <a:latin typeface="Calibri"/>
              </a:rPr>
              <a:t>Extend destructive coverage to the VTI design</a:t>
            </a:r>
          </a:p>
        </p:txBody>
      </p:sp>
      <p:cxnSp>
        <p:nvCxnSpPr>
          <p:cNvPr id="33" name="Connector 32"/>
          <p:cNvCxnSpPr/>
          <p:nvPr/>
        </p:nvCxnSpPr>
        <p:spPr>
          <a:xfrm>
            <a:off x="777240" y="6089904"/>
            <a:ext cx="10652760" cy="0"/>
          </a:xfrm>
          <a:prstGeom prst="line">
            <a:avLst/>
          </a:prstGeom>
          <a:ln w="12700">
            <a:solidFill>
              <a:srgbClr val="33454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6236208"/>
            <a:ext cx="7315200" cy="274320"/>
          </a:xfrm>
          <a:prstGeom prst="rect">
            <a:avLst/>
          </a:prstGeom>
          <a:noFill/>
        </p:spPr>
        <p:txBody>
          <a:bodyPr wrap="square" lIns="0" rIns="0" tIns="0" bIns="0" anchor="t">
            <a:spAutoFit/>
          </a:bodyPr>
          <a:lstStyle/>
          <a:p>
            <a:pPr algn="l">
              <a:lnSpc>
                <a:spcPct val="122000"/>
              </a:lnSpc>
            </a:pPr>
            <a:r>
              <a:rPr sz="1100" b="0" i="0">
                <a:solidFill>
                  <a:srgbClr val="62798A"/>
                </a:solidFill>
                <a:latin typeface="Calibri"/>
              </a:rPr>
              <a:t>Cisco Catalyst 8000V DMVPN testbed  ·  8 September 2026</a:t>
            </a:r>
          </a:p>
        </p:txBody>
      </p:sp>
      <p:sp>
        <p:nvSpPr>
          <p:cNvPr id="35" name="TextBox 34"/>
          <p:cNvSpPr txBox="1"/>
          <p:nvPr/>
        </p:nvSpPr>
        <p:spPr>
          <a:xfrm>
            <a:off x="7772400" y="6236208"/>
            <a:ext cx="3657600" cy="274320"/>
          </a:xfrm>
          <a:prstGeom prst="rect">
            <a:avLst/>
          </a:prstGeom>
          <a:noFill/>
        </p:spPr>
        <p:txBody>
          <a:bodyPr wrap="square" lIns="0" rIns="0" tIns="0" bIns="0" anchor="t">
            <a:spAutoFit/>
          </a:bodyPr>
          <a:lstStyle/>
          <a:p>
            <a:pPr algn="r">
              <a:lnSpc>
                <a:spcPct val="122000"/>
              </a:lnSpc>
            </a:pPr>
            <a:r>
              <a:rPr sz="1100" b="1" i="0">
                <a:solidFill>
                  <a:srgbClr val="00A896"/>
                </a:solidFill>
                <a:latin typeface="Calibri"/>
              </a:rPr>
              <a:t>215 tests  ·  23 suites  ·  24 minutes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